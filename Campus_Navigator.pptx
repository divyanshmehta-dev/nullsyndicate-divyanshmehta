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 name="Google Shape;2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 name="Google Shape;3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 name="Google Shape;4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663B7E83-1488-3F59-5BF2-4B7133A7549A}"/>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31B81BB9-9D44-0E81-3412-0800D73221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a:extLst>
              <a:ext uri="{FF2B5EF4-FFF2-40B4-BE49-F238E27FC236}">
                <a16:creationId xmlns:a16="http://schemas.microsoft.com/office/drawing/2014/main" id="{E68F42E5-9FC1-83E9-4AD3-F67050DD20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2:notes">
            <a:extLst>
              <a:ext uri="{FF2B5EF4-FFF2-40B4-BE49-F238E27FC236}">
                <a16:creationId xmlns:a16="http://schemas.microsoft.com/office/drawing/2014/main" id="{9C22E2FA-BFCA-F72C-673D-26D37E389A6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48300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ivyanshmehta-dev/NullSyndicate-DivyanshMehta"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null-syndicate-divyansh-mehta-yzcm.vercel.app/" TargetMode="External"/><Relationship Id="rId4" Type="http://schemas.openxmlformats.org/officeDocument/2006/relationships/hyperlink" Target="https://drive.google.com/file/d/1t79SKB1LbL42Jz_b803I81QnUcTowG1j/view?usp=drivesdk"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5"/>
        <p:cNvGrpSpPr/>
        <p:nvPr/>
      </p:nvGrpSpPr>
      <p:grpSpPr>
        <a:xfrm>
          <a:off x="0" y="0"/>
          <a:ext cx="0" cy="0"/>
          <a:chOff x="0" y="0"/>
          <a:chExt cx="0" cy="0"/>
        </a:xfrm>
      </p:grpSpPr>
      <p:sp>
        <p:nvSpPr>
          <p:cNvPr id="16" name="Google Shape;16;p3"/>
          <p:cNvSpPr/>
          <p:nvPr/>
        </p:nvSpPr>
        <p:spPr>
          <a:xfrm>
            <a:off x="731520" y="1920240"/>
            <a:ext cx="1069848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600"/>
              <a:buFont typeface="Arial"/>
              <a:buNone/>
            </a:pPr>
            <a:r>
              <a:rPr lang="en-US" sz="3900" b="1">
                <a:solidFill>
                  <a:srgbClr val="FFD966"/>
                </a:solidFill>
              </a:rPr>
              <a:t>VIT BHOPAL - SMART CAMPUS NAVIGATION</a:t>
            </a:r>
            <a:endParaRPr sz="3900" b="0" i="0" u="none" strike="noStrike" cap="none">
              <a:solidFill>
                <a:srgbClr val="FFD966"/>
              </a:solidFill>
              <a:latin typeface="Calibri"/>
              <a:ea typeface="Calibri"/>
              <a:cs typeface="Calibri"/>
              <a:sym typeface="Calibri"/>
            </a:endParaRPr>
          </a:p>
        </p:txBody>
      </p:sp>
      <p:sp>
        <p:nvSpPr>
          <p:cNvPr id="17" name="Google Shape;17;p3"/>
          <p:cNvSpPr/>
          <p:nvPr/>
        </p:nvSpPr>
        <p:spPr>
          <a:xfrm>
            <a:off x="731520" y="2788920"/>
            <a:ext cx="10698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C9CE"/>
              </a:buClr>
              <a:buSzPts val="1800"/>
              <a:buFont typeface="Arial"/>
              <a:buNone/>
            </a:pPr>
            <a:r>
              <a:rPr lang="en-US" sz="1800" b="0" i="0" u="none" strike="noStrike" cap="none">
                <a:solidFill>
                  <a:srgbClr val="C9C9CE"/>
                </a:solidFill>
                <a:latin typeface="Arial"/>
                <a:ea typeface="Arial"/>
                <a:cs typeface="Arial"/>
                <a:sym typeface="Arial"/>
              </a:rPr>
              <a:t>A campus map &amp; assistance web app for freshers and students</a:t>
            </a:r>
            <a:endParaRPr sz="1800" b="0" i="0" u="none" strike="noStrike" cap="none">
              <a:solidFill>
                <a:schemeClr val="dk1"/>
              </a:solidFill>
              <a:latin typeface="Calibri"/>
              <a:ea typeface="Calibri"/>
              <a:cs typeface="Calibri"/>
              <a:sym typeface="Calibri"/>
            </a:endParaRPr>
          </a:p>
        </p:txBody>
      </p:sp>
      <p:sp>
        <p:nvSpPr>
          <p:cNvPr id="18" name="Google Shape;18;p3"/>
          <p:cNvSpPr/>
          <p:nvPr/>
        </p:nvSpPr>
        <p:spPr>
          <a:xfrm>
            <a:off x="731520" y="3474720"/>
            <a:ext cx="106984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0" i="0" u="none" strike="noStrike" cap="none">
                <a:solidFill>
                  <a:srgbClr val="6C4FE0"/>
                </a:solidFill>
                <a:latin typeface="Arial"/>
                <a:ea typeface="Arial"/>
                <a:cs typeface="Arial"/>
                <a:sym typeface="Arial"/>
              </a:rPr>
              <a:t>Proposed by: Team Null Syndicate</a:t>
            </a:r>
            <a:endParaRPr sz="1500" b="0" i="0" u="none" strike="noStrike" cap="none">
              <a:solidFill>
                <a:schemeClr val="dk1"/>
              </a:solidFill>
              <a:latin typeface="Calibri"/>
              <a:ea typeface="Calibri"/>
              <a:cs typeface="Calibri"/>
              <a:sym typeface="Calibri"/>
            </a:endParaRPr>
          </a:p>
        </p:txBody>
      </p:sp>
      <p:sp>
        <p:nvSpPr>
          <p:cNvPr id="19" name="Google Shape;19;p3"/>
          <p:cNvSpPr/>
          <p:nvPr/>
        </p:nvSpPr>
        <p:spPr>
          <a:xfrm>
            <a:off x="731520" y="4114800"/>
            <a:ext cx="7315200" cy="146304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Abhinav Jain — 25BCE10045</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Bhavya Gaurang Vyas — 25BCE10400</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Divyansh Mehta — 25BCY10194</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Aryan Uday Kansagara — 25BAI11021</a:t>
            </a:r>
            <a:endParaRPr sz="1400" b="0" i="0" u="none" strike="noStrike" cap="none">
              <a:solidFill>
                <a:schemeClr val="dk1"/>
              </a:solidFill>
              <a:latin typeface="Calibri"/>
              <a:ea typeface="Calibri"/>
              <a:cs typeface="Calibri"/>
              <a:sym typeface="Calibri"/>
            </a:endParaRPr>
          </a:p>
        </p:txBody>
      </p:sp>
      <p:sp>
        <p:nvSpPr>
          <p:cNvPr id="20" name="Google Shape;20;p3"/>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25"/>
        <p:cNvGrpSpPr/>
        <p:nvPr/>
      </p:nvGrpSpPr>
      <p:grpSpPr>
        <a:xfrm>
          <a:off x="0" y="0"/>
          <a:ext cx="0" cy="0"/>
          <a:chOff x="0" y="0"/>
          <a:chExt cx="0" cy="0"/>
        </a:xfrm>
      </p:grpSpPr>
      <p:sp>
        <p:nvSpPr>
          <p:cNvPr id="26" name="Google Shape;26;p4"/>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The Problem</a:t>
            </a:r>
            <a:endParaRPr sz="3200" b="0" i="0" u="none" strike="noStrike" cap="none">
              <a:solidFill>
                <a:srgbClr val="FFD966"/>
              </a:solidFill>
              <a:latin typeface="Calibri"/>
              <a:ea typeface="Calibri"/>
              <a:cs typeface="Calibri"/>
              <a:sym typeface="Calibri"/>
            </a:endParaRPr>
          </a:p>
        </p:txBody>
      </p:sp>
      <p:sp>
        <p:nvSpPr>
          <p:cNvPr id="27" name="Google Shape;27;p4"/>
          <p:cNvSpPr/>
          <p:nvPr/>
        </p:nvSpPr>
        <p:spPr>
          <a:xfrm>
            <a:off x="548640" y="1828800"/>
            <a:ext cx="11064240" cy="420624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Every year, new freshers arrive on campus without any clear idea of where things are — academic blocks, hostels, mess halls, medical help, or food outlets.</a:t>
            </a:r>
            <a:endParaRPr sz="18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Campus layouts (AB1, AB2, Blocks 1 to 8, hostel wings, sports areas) are large and confusing for first-time visitors and even some seniors.</a:t>
            </a:r>
            <a:endParaRPr sz="18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Information about mess menus, cafe menus, emergency contacts, and medical services is scattered — students ask around or search social media groups.</a:t>
            </a:r>
            <a:endParaRPr sz="18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There is no single, reliable, always-available source that tells a student where a place is and how to get there.</a:t>
            </a:r>
            <a:endParaRPr sz="1800" b="0" i="0" u="none" strike="noStrike" cap="none">
              <a:solidFill>
                <a:schemeClr val="dk1"/>
              </a:solidFill>
              <a:latin typeface="Calibri"/>
              <a:ea typeface="Calibri"/>
              <a:cs typeface="Calibri"/>
              <a:sym typeface="Calibri"/>
            </a:endParaRPr>
          </a:p>
        </p:txBody>
      </p:sp>
      <p:sp>
        <p:nvSpPr>
          <p:cNvPr id="28" name="Google Shape;28;p4"/>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33"/>
        <p:cNvGrpSpPr/>
        <p:nvPr/>
      </p:nvGrpSpPr>
      <p:grpSpPr>
        <a:xfrm>
          <a:off x="0" y="0"/>
          <a:ext cx="0" cy="0"/>
          <a:chOff x="0" y="0"/>
          <a:chExt cx="0" cy="0"/>
        </a:xfrm>
      </p:grpSpPr>
      <p:sp>
        <p:nvSpPr>
          <p:cNvPr id="34" name="Google Shape;34;p5"/>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Proposed Solution</a:t>
            </a:r>
            <a:endParaRPr sz="3200" b="0" i="0" u="none" strike="noStrike" cap="none">
              <a:solidFill>
                <a:srgbClr val="FFD966"/>
              </a:solidFill>
              <a:latin typeface="Calibri"/>
              <a:ea typeface="Calibri"/>
              <a:cs typeface="Calibri"/>
              <a:sym typeface="Calibri"/>
            </a:endParaRPr>
          </a:p>
        </p:txBody>
      </p:sp>
      <p:sp>
        <p:nvSpPr>
          <p:cNvPr id="35" name="Google Shape;35;p5"/>
          <p:cNvSpPr/>
          <p:nvPr/>
        </p:nvSpPr>
        <p:spPr>
          <a:xfrm>
            <a:off x="548640" y="1783080"/>
            <a:ext cx="11064240" cy="438912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A web app that shows an interactive campus map with every important location pinned and labeled.</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Locations covered: Academic Block 1 (AB1) and AB2, Blocks 1–8 (including 8A and 8B), boys' hostel mess halls (Anchor, JMB, Safal, Mayuri), the Special Block food and parcel counter, both campus gates, the MPH sports complex, and Dr. Morphy (campus medical/emergency centre).</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Cafes and eateries are marked too — Underbelly near AB1, and Bistro, AB Dakshin, and Mayuri in the Special Block.</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Tapping a place opens its description along with a linked PDF (menu, timing, or details) so students don't need to search elsewhere.</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Built for freshers on day one, but useful for every student and even visiting parents or guests.</a:t>
            </a:r>
            <a:endParaRPr sz="1650" b="0" i="0" u="none" strike="noStrike" cap="none">
              <a:solidFill>
                <a:schemeClr val="dk1"/>
              </a:solidFill>
              <a:latin typeface="Calibri"/>
              <a:ea typeface="Calibri"/>
              <a:cs typeface="Calibri"/>
              <a:sym typeface="Calibri"/>
            </a:endParaRPr>
          </a:p>
        </p:txBody>
      </p:sp>
      <p:sp>
        <p:nvSpPr>
          <p:cNvPr id="36" name="Google Shape;36;p5"/>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41"/>
        <p:cNvGrpSpPr/>
        <p:nvPr/>
      </p:nvGrpSpPr>
      <p:grpSpPr>
        <a:xfrm>
          <a:off x="0" y="0"/>
          <a:ext cx="0" cy="0"/>
          <a:chOff x="0" y="0"/>
          <a:chExt cx="0" cy="0"/>
        </a:xfrm>
      </p:grpSpPr>
      <p:sp>
        <p:nvSpPr>
          <p:cNvPr id="42" name="Google Shape;42;p6"/>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Key Features</a:t>
            </a:r>
            <a:endParaRPr sz="3200" b="0" i="0" u="none" strike="noStrike" cap="none">
              <a:solidFill>
                <a:srgbClr val="FFD966"/>
              </a:solidFill>
              <a:latin typeface="Calibri"/>
              <a:ea typeface="Calibri"/>
              <a:cs typeface="Calibri"/>
              <a:sym typeface="Calibri"/>
            </a:endParaRPr>
          </a:p>
        </p:txBody>
      </p:sp>
      <p:sp>
        <p:nvSpPr>
          <p:cNvPr id="43" name="Google Shape;43;p6"/>
          <p:cNvSpPr/>
          <p:nvPr/>
        </p:nvSpPr>
        <p:spPr>
          <a:xfrm>
            <a:off x="548640" y="17830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a:off x="777240" y="19202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Interactive Map</a:t>
            </a:r>
            <a:endParaRPr sz="1600" b="0" i="0" u="none" strike="noStrike" cap="none">
              <a:solidFill>
                <a:schemeClr val="dk1"/>
              </a:solidFill>
              <a:latin typeface="Calibri"/>
              <a:ea typeface="Calibri"/>
              <a:cs typeface="Calibri"/>
              <a:sym typeface="Calibri"/>
            </a:endParaRPr>
          </a:p>
        </p:txBody>
      </p:sp>
      <p:sp>
        <p:nvSpPr>
          <p:cNvPr id="45" name="Google Shape;45;p6"/>
          <p:cNvSpPr/>
          <p:nvPr/>
        </p:nvSpPr>
        <p:spPr>
          <a:xfrm>
            <a:off x="777240" y="23134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All blocks, mess halls, cafes, gates, MPH, and Dr. Morphy pinned and labeled clearly.</a:t>
            </a:r>
            <a:endParaRPr sz="1250" b="0" i="0" u="none" strike="noStrike" cap="none">
              <a:solidFill>
                <a:schemeClr val="dk1"/>
              </a:solidFill>
              <a:latin typeface="Calibri"/>
              <a:ea typeface="Calibri"/>
              <a:cs typeface="Calibri"/>
              <a:sym typeface="Calibri"/>
            </a:endParaRPr>
          </a:p>
        </p:txBody>
      </p:sp>
      <p:sp>
        <p:nvSpPr>
          <p:cNvPr id="46" name="Google Shape;46;p6"/>
          <p:cNvSpPr/>
          <p:nvPr/>
        </p:nvSpPr>
        <p:spPr>
          <a:xfrm>
            <a:off x="6263640" y="17830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6492240" y="19202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Linked Menus &amp; Info</a:t>
            </a:r>
            <a:endParaRPr sz="1600" b="0" i="0" u="none" strike="noStrike" cap="none">
              <a:solidFill>
                <a:schemeClr val="dk1"/>
              </a:solidFill>
              <a:latin typeface="Calibri"/>
              <a:ea typeface="Calibri"/>
              <a:cs typeface="Calibri"/>
              <a:sym typeface="Calibri"/>
            </a:endParaRPr>
          </a:p>
        </p:txBody>
      </p:sp>
      <p:sp>
        <p:nvSpPr>
          <p:cNvPr id="48" name="Google Shape;48;p6"/>
          <p:cNvSpPr/>
          <p:nvPr/>
        </p:nvSpPr>
        <p:spPr>
          <a:xfrm>
            <a:off x="6492240" y="23134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Tap a place to see a short description; a linked PDF (photographed menus etc.) opens for full details.</a:t>
            </a:r>
            <a:endParaRPr sz="1250" b="0" i="0" u="none" strike="noStrike" cap="none">
              <a:solidFill>
                <a:schemeClr val="dk1"/>
              </a:solidFill>
              <a:latin typeface="Calibri"/>
              <a:ea typeface="Calibri"/>
              <a:cs typeface="Calibri"/>
              <a:sym typeface="Calibri"/>
            </a:endParaRPr>
          </a:p>
        </p:txBody>
      </p:sp>
      <p:sp>
        <p:nvSpPr>
          <p:cNvPr id="49" name="Google Shape;49;p6"/>
          <p:cNvSpPr/>
          <p:nvPr/>
        </p:nvSpPr>
        <p:spPr>
          <a:xfrm>
            <a:off x="548640" y="33832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a:off x="777240" y="35204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Find the Path</a:t>
            </a:r>
            <a:endParaRPr sz="1600" b="0" i="0" u="none" strike="noStrike" cap="none">
              <a:solidFill>
                <a:schemeClr val="dk1"/>
              </a:solidFill>
              <a:latin typeface="Calibri"/>
              <a:ea typeface="Calibri"/>
              <a:cs typeface="Calibri"/>
              <a:sym typeface="Calibri"/>
            </a:endParaRPr>
          </a:p>
        </p:txBody>
      </p:sp>
      <p:sp>
        <p:nvSpPr>
          <p:cNvPr id="51" name="Google Shape;51;p6"/>
          <p:cNvSpPr/>
          <p:nvPr/>
        </p:nvSpPr>
        <p:spPr>
          <a:xfrm>
            <a:off x="777240" y="39136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Uses the user's live location to calculate and show the best route to any selected place on campus.</a:t>
            </a:r>
            <a:endParaRPr sz="1250" b="0" i="0" u="none" strike="noStrike" cap="none">
              <a:solidFill>
                <a:schemeClr val="dk1"/>
              </a:solidFill>
              <a:latin typeface="Calibri"/>
              <a:ea typeface="Calibri"/>
              <a:cs typeface="Calibri"/>
              <a:sym typeface="Calibri"/>
            </a:endParaRPr>
          </a:p>
        </p:txBody>
      </p:sp>
      <p:sp>
        <p:nvSpPr>
          <p:cNvPr id="52" name="Google Shape;52;p6"/>
          <p:cNvSpPr/>
          <p:nvPr/>
        </p:nvSpPr>
        <p:spPr>
          <a:xfrm>
            <a:off x="6263640" y="33832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a:off x="6492240" y="35204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Emergency Contacts</a:t>
            </a:r>
            <a:endParaRPr sz="1600" b="0" i="0" u="none" strike="noStrike" cap="none">
              <a:solidFill>
                <a:schemeClr val="dk1"/>
              </a:solidFill>
              <a:latin typeface="Calibri"/>
              <a:ea typeface="Calibri"/>
              <a:cs typeface="Calibri"/>
              <a:sym typeface="Calibri"/>
            </a:endParaRPr>
          </a:p>
        </p:txBody>
      </p:sp>
      <p:sp>
        <p:nvSpPr>
          <p:cNvPr id="54" name="Google Shape;54;p6"/>
          <p:cNvSpPr/>
          <p:nvPr/>
        </p:nvSpPr>
        <p:spPr>
          <a:xfrm>
            <a:off x="6492240" y="39136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One dedicated button for emergency numbers and Dr. Morphy details — no searching required.</a:t>
            </a:r>
            <a:endParaRPr sz="1250" b="0" i="0" u="none" strike="noStrike" cap="none">
              <a:solidFill>
                <a:schemeClr val="dk1"/>
              </a:solidFill>
              <a:latin typeface="Calibri"/>
              <a:ea typeface="Calibri"/>
              <a:cs typeface="Calibri"/>
              <a:sym typeface="Calibri"/>
            </a:endParaRPr>
          </a:p>
        </p:txBody>
      </p:sp>
      <p:sp>
        <p:nvSpPr>
          <p:cNvPr id="55" name="Google Shape;55;p6"/>
          <p:cNvSpPr/>
          <p:nvPr/>
        </p:nvSpPr>
        <p:spPr>
          <a:xfrm>
            <a:off x="548640" y="49834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p:nvPr/>
        </p:nvSpPr>
        <p:spPr>
          <a:xfrm>
            <a:off x="777240" y="51206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Freshers' Tour</a:t>
            </a:r>
            <a:endParaRPr sz="1600" b="0" i="0" u="none" strike="noStrike" cap="none">
              <a:solidFill>
                <a:schemeClr val="dk1"/>
              </a:solidFill>
              <a:latin typeface="Calibri"/>
              <a:ea typeface="Calibri"/>
              <a:cs typeface="Calibri"/>
              <a:sym typeface="Calibri"/>
            </a:endParaRPr>
          </a:p>
        </p:txBody>
      </p:sp>
      <p:sp>
        <p:nvSpPr>
          <p:cNvPr id="57" name="Google Shape;57;p6"/>
          <p:cNvSpPr/>
          <p:nvPr/>
        </p:nvSpPr>
        <p:spPr>
          <a:xfrm>
            <a:off x="777240" y="55138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A guided walkthrough button that introduces new students to the campus, block by block.</a:t>
            </a:r>
            <a:endParaRPr sz="1250" b="0" i="0" u="none" strike="noStrike" cap="none">
              <a:solidFill>
                <a:schemeClr val="dk1"/>
              </a:solidFill>
              <a:latin typeface="Calibri"/>
              <a:ea typeface="Calibri"/>
              <a:cs typeface="Calibri"/>
              <a:sym typeface="Calibri"/>
            </a:endParaRPr>
          </a:p>
        </p:txBody>
      </p:sp>
      <p:sp>
        <p:nvSpPr>
          <p:cNvPr id="58" name="Google Shape;58;p6"/>
          <p:cNvSpPr/>
          <p:nvPr/>
        </p:nvSpPr>
        <p:spPr>
          <a:xfrm>
            <a:off x="6263640" y="49834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a:off x="6492240" y="51206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Light / Dark Mode</a:t>
            </a:r>
            <a:endParaRPr sz="1600" b="0" i="0" u="none" strike="noStrike" cap="none">
              <a:solidFill>
                <a:schemeClr val="dk1"/>
              </a:solidFill>
              <a:latin typeface="Calibri"/>
              <a:ea typeface="Calibri"/>
              <a:cs typeface="Calibri"/>
              <a:sym typeface="Calibri"/>
            </a:endParaRPr>
          </a:p>
        </p:txBody>
      </p:sp>
      <p:sp>
        <p:nvSpPr>
          <p:cNvPr id="60" name="Google Shape;60;p6"/>
          <p:cNvSpPr/>
          <p:nvPr/>
        </p:nvSpPr>
        <p:spPr>
          <a:xfrm>
            <a:off x="6492240" y="55138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A toggle so the map is comfortable to use both indoors and outdoors, day or night.</a:t>
            </a:r>
            <a:endParaRPr sz="1250" b="0" i="0" u="none" strike="noStrike" cap="none">
              <a:solidFill>
                <a:schemeClr val="dk1"/>
              </a:solidFill>
              <a:latin typeface="Calibri"/>
              <a:ea typeface="Calibri"/>
              <a:cs typeface="Calibri"/>
              <a:sym typeface="Calibri"/>
            </a:endParaRPr>
          </a:p>
        </p:txBody>
      </p:sp>
      <p:sp>
        <p:nvSpPr>
          <p:cNvPr id="61" name="Google Shape;61;p6"/>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66"/>
        <p:cNvGrpSpPr/>
        <p:nvPr/>
      </p:nvGrpSpPr>
      <p:grpSpPr>
        <a:xfrm>
          <a:off x="0" y="0"/>
          <a:ext cx="0" cy="0"/>
          <a:chOff x="0" y="0"/>
          <a:chExt cx="0" cy="0"/>
        </a:xfrm>
      </p:grpSpPr>
      <p:sp>
        <p:nvSpPr>
          <p:cNvPr id="67" name="Google Shape;67;p7"/>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Target Users &amp; How It Works</a:t>
            </a:r>
            <a:endParaRPr sz="3200" b="0" i="0" u="none" strike="noStrike" cap="none">
              <a:solidFill>
                <a:srgbClr val="FFD966"/>
              </a:solidFill>
              <a:latin typeface="Calibri"/>
              <a:ea typeface="Calibri"/>
              <a:cs typeface="Calibri"/>
              <a:sym typeface="Calibri"/>
            </a:endParaRPr>
          </a:p>
        </p:txBody>
      </p:sp>
      <p:sp>
        <p:nvSpPr>
          <p:cNvPr id="68" name="Google Shape;68;p7"/>
          <p:cNvSpPr/>
          <p:nvPr/>
        </p:nvSpPr>
        <p:spPr>
          <a:xfrm>
            <a:off x="548640" y="1737360"/>
            <a:ext cx="5303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Target Users</a:t>
            </a:r>
            <a:endParaRPr sz="1800" b="0" i="0" u="none" strike="noStrike" cap="none">
              <a:solidFill>
                <a:schemeClr val="dk1"/>
              </a:solidFill>
              <a:latin typeface="Calibri"/>
              <a:ea typeface="Calibri"/>
              <a:cs typeface="Calibri"/>
              <a:sym typeface="Calibri"/>
            </a:endParaRPr>
          </a:p>
        </p:txBody>
      </p:sp>
      <p:sp>
        <p:nvSpPr>
          <p:cNvPr id="69" name="Google Shape;69;p7"/>
          <p:cNvSpPr/>
          <p:nvPr/>
        </p:nvSpPr>
        <p:spPr>
          <a:xfrm>
            <a:off x="548640" y="2148840"/>
            <a:ext cx="5303520" cy="384048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Incoming freshers, on their very first day</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Current students who still lose track of new blocks/facilities</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Parents and guests visiting during events</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Hostel wardens/admin needing quick info to share</a:t>
            </a:r>
            <a:endParaRPr sz="1500" b="0" i="0" u="none" strike="noStrike" cap="none">
              <a:solidFill>
                <a:schemeClr val="dk1"/>
              </a:solidFill>
              <a:latin typeface="Calibri"/>
              <a:ea typeface="Calibri"/>
              <a:cs typeface="Calibri"/>
              <a:sym typeface="Calibri"/>
            </a:endParaRPr>
          </a:p>
        </p:txBody>
      </p:sp>
      <p:sp>
        <p:nvSpPr>
          <p:cNvPr id="70" name="Google Shape;70;p7"/>
          <p:cNvSpPr/>
          <p:nvPr/>
        </p:nvSpPr>
        <p:spPr>
          <a:xfrm>
            <a:off x="6217920" y="1737360"/>
            <a:ext cx="53949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How a User Moves Through It</a:t>
            </a:r>
            <a:endParaRPr sz="1800" b="0" i="0" u="none" strike="noStrike" cap="none">
              <a:solidFill>
                <a:schemeClr val="dk1"/>
              </a:solidFill>
              <a:latin typeface="Calibri"/>
              <a:ea typeface="Calibri"/>
              <a:cs typeface="Calibri"/>
              <a:sym typeface="Calibri"/>
            </a:endParaRPr>
          </a:p>
        </p:txBody>
      </p:sp>
      <p:sp>
        <p:nvSpPr>
          <p:cNvPr id="71" name="Google Shape;71;p7"/>
          <p:cNvSpPr/>
          <p:nvPr/>
        </p:nvSpPr>
        <p:spPr>
          <a:xfrm>
            <a:off x="6217920" y="2148840"/>
            <a:ext cx="5394960" cy="384048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Open the website — map loads with all pins visible</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Tap a pin (e.g. Underbelly) to see its short info card</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Tap the link icon to open the menu/details PDF</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Or tap "Find the Path" to get directions from current location</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Use quick buttons for Emergency Contacts or the Freshers' Tour anytime</a:t>
            </a:r>
            <a:endParaRPr sz="1500" b="0" i="0" u="none" strike="noStrike" cap="none">
              <a:solidFill>
                <a:schemeClr val="dk1"/>
              </a:solidFill>
              <a:latin typeface="Calibri"/>
              <a:ea typeface="Calibri"/>
              <a:cs typeface="Calibri"/>
              <a:sym typeface="Calibri"/>
            </a:endParaRPr>
          </a:p>
        </p:txBody>
      </p:sp>
      <p:sp>
        <p:nvSpPr>
          <p:cNvPr id="72" name="Google Shape;72;p7"/>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5</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77"/>
        <p:cNvGrpSpPr/>
        <p:nvPr/>
      </p:nvGrpSpPr>
      <p:grpSpPr>
        <a:xfrm>
          <a:off x="0" y="0"/>
          <a:ext cx="0" cy="0"/>
          <a:chOff x="0" y="0"/>
          <a:chExt cx="0" cy="0"/>
        </a:xfrm>
      </p:grpSpPr>
      <p:sp>
        <p:nvSpPr>
          <p:cNvPr id="78" name="Google Shape;78;p8"/>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Technical Strategy</a:t>
            </a:r>
            <a:endParaRPr sz="3200" b="0" i="0" u="none" strike="noStrike" cap="none">
              <a:solidFill>
                <a:srgbClr val="FFD966"/>
              </a:solidFill>
              <a:latin typeface="Calibri"/>
              <a:ea typeface="Calibri"/>
              <a:cs typeface="Calibri"/>
              <a:sym typeface="Calibri"/>
            </a:endParaRPr>
          </a:p>
        </p:txBody>
      </p:sp>
      <p:sp>
        <p:nvSpPr>
          <p:cNvPr id="79" name="Google Shape;79;p8"/>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Technologies / Tools</a:t>
            </a:r>
            <a:endParaRPr sz="1600" b="0" i="0" u="none" strike="noStrike" cap="none">
              <a:solidFill>
                <a:schemeClr val="dk1"/>
              </a:solidFill>
              <a:latin typeface="Calibri"/>
              <a:ea typeface="Calibri"/>
              <a:cs typeface="Calibri"/>
              <a:sym typeface="Calibri"/>
            </a:endParaRPr>
          </a:p>
        </p:txBody>
      </p:sp>
      <p:sp>
        <p:nvSpPr>
          <p:cNvPr id="80" name="Google Shape;80;p8"/>
          <p:cNvSpPr/>
          <p:nvPr/>
        </p:nvSpPr>
        <p:spPr>
          <a:xfrm>
            <a:off x="548640" y="214884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Frontend:</a:t>
            </a:r>
            <a:endParaRPr sz="1500" b="0" i="0" u="none" strike="noStrike" cap="none">
              <a:solidFill>
                <a:schemeClr val="dk1"/>
              </a:solidFill>
              <a:latin typeface="Calibri"/>
              <a:ea typeface="Calibri"/>
              <a:cs typeface="Calibri"/>
              <a:sym typeface="Calibri"/>
            </a:endParaRPr>
          </a:p>
        </p:txBody>
      </p:sp>
      <p:sp>
        <p:nvSpPr>
          <p:cNvPr id="81" name="Google Shape;81;p8"/>
          <p:cNvSpPr/>
          <p:nvPr/>
        </p:nvSpPr>
        <p:spPr>
          <a:xfrm>
            <a:off x="3017520" y="214884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HTML, CSS, JavaScript (responsive layout for phones, since freshers mostly use mobile)</a:t>
            </a:r>
            <a:endParaRPr sz="1450" b="0" i="0" u="none" strike="noStrike" cap="none">
              <a:solidFill>
                <a:schemeClr val="dk1"/>
              </a:solidFill>
              <a:latin typeface="Calibri"/>
              <a:ea typeface="Calibri"/>
              <a:cs typeface="Calibri"/>
              <a:sym typeface="Calibri"/>
            </a:endParaRPr>
          </a:p>
        </p:txBody>
      </p:sp>
      <p:sp>
        <p:nvSpPr>
          <p:cNvPr id="82" name="Google Shape;82;p8"/>
          <p:cNvSpPr/>
          <p:nvPr/>
        </p:nvSpPr>
        <p:spPr>
          <a:xfrm>
            <a:off x="548640" y="292608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Map &amp; Location:</a:t>
            </a:r>
            <a:endParaRPr sz="1500" b="0" i="0" u="none" strike="noStrike" cap="none">
              <a:solidFill>
                <a:schemeClr val="dk1"/>
              </a:solidFill>
              <a:latin typeface="Calibri"/>
              <a:ea typeface="Calibri"/>
              <a:cs typeface="Calibri"/>
              <a:sym typeface="Calibri"/>
            </a:endParaRPr>
          </a:p>
        </p:txBody>
      </p:sp>
      <p:sp>
        <p:nvSpPr>
          <p:cNvPr id="83" name="Google Shape;83;p8"/>
          <p:cNvSpPr/>
          <p:nvPr/>
        </p:nvSpPr>
        <p:spPr>
          <a:xfrm>
            <a:off x="3017520" y="292608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Leaflet.js / Google Maps API for the interactive map, browser Geolocation API for "Find the Path"</a:t>
            </a:r>
            <a:endParaRPr sz="1450" b="0" i="0" u="none" strike="noStrike" cap="none">
              <a:solidFill>
                <a:schemeClr val="dk1"/>
              </a:solidFill>
              <a:latin typeface="Calibri"/>
              <a:ea typeface="Calibri"/>
              <a:cs typeface="Calibri"/>
              <a:sym typeface="Calibri"/>
            </a:endParaRPr>
          </a:p>
        </p:txBody>
      </p:sp>
      <p:sp>
        <p:nvSpPr>
          <p:cNvPr id="84" name="Google Shape;84;p8"/>
          <p:cNvSpPr/>
          <p:nvPr/>
        </p:nvSpPr>
        <p:spPr>
          <a:xfrm>
            <a:off x="548640" y="370332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Backend:</a:t>
            </a:r>
            <a:endParaRPr sz="1500" b="0" i="0" u="none" strike="noStrike" cap="none">
              <a:solidFill>
                <a:schemeClr val="dk1"/>
              </a:solidFill>
              <a:latin typeface="Calibri"/>
              <a:ea typeface="Calibri"/>
              <a:cs typeface="Calibri"/>
              <a:sym typeface="Calibri"/>
            </a:endParaRPr>
          </a:p>
        </p:txBody>
      </p:sp>
      <p:sp>
        <p:nvSpPr>
          <p:cNvPr id="85" name="Google Shape;85;p8"/>
          <p:cNvSpPr/>
          <p:nvPr/>
        </p:nvSpPr>
        <p:spPr>
          <a:xfrm>
            <a:off x="3017520" y="370332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Node.js with Express to serve location data and PDF links</a:t>
            </a:r>
            <a:endParaRPr sz="1450" b="0" i="0" u="none" strike="noStrike" cap="none">
              <a:solidFill>
                <a:schemeClr val="dk1"/>
              </a:solidFill>
              <a:latin typeface="Calibri"/>
              <a:ea typeface="Calibri"/>
              <a:cs typeface="Calibri"/>
              <a:sym typeface="Calibri"/>
            </a:endParaRPr>
          </a:p>
        </p:txBody>
      </p:sp>
      <p:sp>
        <p:nvSpPr>
          <p:cNvPr id="86" name="Google Shape;86;p8"/>
          <p:cNvSpPr/>
          <p:nvPr/>
        </p:nvSpPr>
        <p:spPr>
          <a:xfrm>
            <a:off x="548640" y="448056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Database:</a:t>
            </a:r>
            <a:endParaRPr sz="1500" b="0" i="0" u="none" strike="noStrike" cap="none">
              <a:solidFill>
                <a:schemeClr val="dk1"/>
              </a:solidFill>
              <a:latin typeface="Calibri"/>
              <a:ea typeface="Calibri"/>
              <a:cs typeface="Calibri"/>
              <a:sym typeface="Calibri"/>
            </a:endParaRPr>
          </a:p>
        </p:txBody>
      </p:sp>
      <p:sp>
        <p:nvSpPr>
          <p:cNvPr id="87" name="Google Shape;87;p8"/>
          <p:cNvSpPr/>
          <p:nvPr/>
        </p:nvSpPr>
        <p:spPr>
          <a:xfrm>
            <a:off x="3017520" y="448056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Firebase / MongoDB to store place details, PDF links, and contact numbers so they can be updated easily</a:t>
            </a:r>
            <a:endParaRPr sz="1450" b="0" i="0" u="none" strike="noStrike" cap="none">
              <a:solidFill>
                <a:schemeClr val="dk1"/>
              </a:solidFill>
              <a:latin typeface="Calibri"/>
              <a:ea typeface="Calibri"/>
              <a:cs typeface="Calibri"/>
              <a:sym typeface="Calibri"/>
            </a:endParaRPr>
          </a:p>
        </p:txBody>
      </p:sp>
      <p:sp>
        <p:nvSpPr>
          <p:cNvPr id="88" name="Google Shape;88;p8"/>
          <p:cNvSpPr/>
          <p:nvPr/>
        </p:nvSpPr>
        <p:spPr>
          <a:xfrm>
            <a:off x="548640" y="525780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Hosting:</a:t>
            </a:r>
            <a:endParaRPr sz="1500" b="0" i="0" u="none" strike="noStrike" cap="none">
              <a:solidFill>
                <a:schemeClr val="dk1"/>
              </a:solidFill>
              <a:latin typeface="Calibri"/>
              <a:ea typeface="Calibri"/>
              <a:cs typeface="Calibri"/>
              <a:sym typeface="Calibri"/>
            </a:endParaRPr>
          </a:p>
        </p:txBody>
      </p:sp>
      <p:sp>
        <p:nvSpPr>
          <p:cNvPr id="89" name="Google Shape;89;p8"/>
          <p:cNvSpPr/>
          <p:nvPr/>
        </p:nvSpPr>
        <p:spPr>
          <a:xfrm>
            <a:off x="3017520" y="525780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Vercel / Netlify for the website, with PDFs stored on cloud storage (Google Drive or Firebase Storage)</a:t>
            </a:r>
            <a:endParaRPr sz="1450" b="0" i="0" u="none" strike="noStrike" cap="none">
              <a:solidFill>
                <a:schemeClr val="dk1"/>
              </a:solidFill>
              <a:latin typeface="Calibri"/>
              <a:ea typeface="Calibri"/>
              <a:cs typeface="Calibri"/>
              <a:sym typeface="Calibri"/>
            </a:endParaRPr>
          </a:p>
        </p:txBody>
      </p:sp>
      <p:sp>
        <p:nvSpPr>
          <p:cNvPr id="90" name="Google Shape;90;p8"/>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95"/>
        <p:cNvGrpSpPr/>
        <p:nvPr/>
      </p:nvGrpSpPr>
      <p:grpSpPr>
        <a:xfrm>
          <a:off x="0" y="0"/>
          <a:ext cx="0" cy="0"/>
          <a:chOff x="0" y="0"/>
          <a:chExt cx="0" cy="0"/>
        </a:xfrm>
      </p:grpSpPr>
      <p:sp>
        <p:nvSpPr>
          <p:cNvPr id="96" name="Google Shape;96;p9"/>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Technical Strategy</a:t>
            </a:r>
            <a:endParaRPr sz="3200" b="0" i="0" u="none" strike="noStrike" cap="none">
              <a:solidFill>
                <a:srgbClr val="FFD966"/>
              </a:solidFill>
              <a:latin typeface="Calibri"/>
              <a:ea typeface="Calibri"/>
              <a:cs typeface="Calibri"/>
              <a:sym typeface="Calibri"/>
            </a:endParaRPr>
          </a:p>
        </p:txBody>
      </p:sp>
      <p:sp>
        <p:nvSpPr>
          <p:cNvPr id="97" name="Google Shape;97;p9"/>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Implementation Process</a:t>
            </a:r>
            <a:endParaRPr sz="1600" b="0" i="0" u="none" strike="noStrike" cap="none">
              <a:solidFill>
                <a:schemeClr val="dk1"/>
              </a:solidFill>
              <a:latin typeface="Calibri"/>
              <a:ea typeface="Calibri"/>
              <a:cs typeface="Calibri"/>
              <a:sym typeface="Calibri"/>
            </a:endParaRPr>
          </a:p>
        </p:txBody>
      </p:sp>
      <p:sp>
        <p:nvSpPr>
          <p:cNvPr id="98" name="Google Shape;98;p9"/>
          <p:cNvSpPr/>
          <p:nvPr/>
        </p:nvSpPr>
        <p:spPr>
          <a:xfrm>
            <a:off x="548640"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p:nvPr/>
        </p:nvSpPr>
        <p:spPr>
          <a:xfrm>
            <a:off x="548640"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Collect data</a:t>
            </a:r>
            <a:endParaRPr sz="1400" b="0" i="0" u="none" strike="noStrike" cap="none">
              <a:solidFill>
                <a:schemeClr val="dk1"/>
              </a:solidFill>
              <a:latin typeface="Calibri"/>
              <a:ea typeface="Calibri"/>
              <a:cs typeface="Calibri"/>
              <a:sym typeface="Calibri"/>
            </a:endParaRPr>
          </a:p>
        </p:txBody>
      </p:sp>
      <p:sp>
        <p:nvSpPr>
          <p:cNvPr id="100" name="Google Shape;100;p9"/>
          <p:cNvSpPr/>
          <p:nvPr/>
        </p:nvSpPr>
        <p:spPr>
          <a:xfrm>
            <a:off x="548640"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9"/>
          <p:cNvSpPr/>
          <p:nvPr/>
        </p:nvSpPr>
        <p:spPr>
          <a:xfrm>
            <a:off x="658368"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Coordinates, photos &amp; menu PDFs for every block, mess, cafe &amp; gate</a:t>
            </a:r>
            <a:endParaRPr sz="1100" b="0" i="0" u="none" strike="noStrike" cap="none">
              <a:solidFill>
                <a:schemeClr val="dk1"/>
              </a:solidFill>
              <a:latin typeface="Calibri"/>
              <a:ea typeface="Calibri"/>
              <a:cs typeface="Calibri"/>
              <a:sym typeface="Calibri"/>
            </a:endParaRPr>
          </a:p>
        </p:txBody>
      </p:sp>
      <p:sp>
        <p:nvSpPr>
          <p:cNvPr id="102" name="Google Shape;102;p9"/>
          <p:cNvSpPr/>
          <p:nvPr/>
        </p:nvSpPr>
        <p:spPr>
          <a:xfrm>
            <a:off x="2514600"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03" name="Google Shape;103;p9"/>
          <p:cNvSpPr/>
          <p:nvPr/>
        </p:nvSpPr>
        <p:spPr>
          <a:xfrm>
            <a:off x="2770632"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p:nvPr/>
        </p:nvSpPr>
        <p:spPr>
          <a:xfrm>
            <a:off x="2770632"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Build map UI</a:t>
            </a:r>
            <a:endParaRPr sz="1400" b="0" i="0" u="none" strike="noStrike" cap="none">
              <a:solidFill>
                <a:schemeClr val="dk1"/>
              </a:solidFill>
              <a:latin typeface="Calibri"/>
              <a:ea typeface="Calibri"/>
              <a:cs typeface="Calibri"/>
              <a:sym typeface="Calibri"/>
            </a:endParaRPr>
          </a:p>
        </p:txBody>
      </p:sp>
      <p:sp>
        <p:nvSpPr>
          <p:cNvPr id="105" name="Google Shape;105;p9"/>
          <p:cNvSpPr/>
          <p:nvPr/>
        </p:nvSpPr>
        <p:spPr>
          <a:xfrm>
            <a:off x="2770632"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2880360"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Place pins on an interactive map with tap-to-view info cards</a:t>
            </a:r>
            <a:endParaRPr sz="1100" b="0" i="0" u="none" strike="noStrike" cap="none">
              <a:solidFill>
                <a:schemeClr val="dk1"/>
              </a:solidFill>
              <a:latin typeface="Calibri"/>
              <a:ea typeface="Calibri"/>
              <a:cs typeface="Calibri"/>
              <a:sym typeface="Calibri"/>
            </a:endParaRPr>
          </a:p>
        </p:txBody>
      </p:sp>
      <p:sp>
        <p:nvSpPr>
          <p:cNvPr id="107" name="Google Shape;107;p9"/>
          <p:cNvSpPr/>
          <p:nvPr/>
        </p:nvSpPr>
        <p:spPr>
          <a:xfrm>
            <a:off x="4736592"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08" name="Google Shape;108;p9"/>
          <p:cNvSpPr/>
          <p:nvPr/>
        </p:nvSpPr>
        <p:spPr>
          <a:xfrm>
            <a:off x="4992624"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9"/>
          <p:cNvSpPr/>
          <p:nvPr/>
        </p:nvSpPr>
        <p:spPr>
          <a:xfrm>
            <a:off x="4992624"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Add routing</a:t>
            </a:r>
            <a:endParaRPr sz="1400" b="0" i="0" u="none" strike="noStrike" cap="none">
              <a:solidFill>
                <a:schemeClr val="dk1"/>
              </a:solidFill>
              <a:latin typeface="Calibri"/>
              <a:ea typeface="Calibri"/>
              <a:cs typeface="Calibri"/>
              <a:sym typeface="Calibri"/>
            </a:endParaRPr>
          </a:p>
        </p:txBody>
      </p:sp>
      <p:sp>
        <p:nvSpPr>
          <p:cNvPr id="110" name="Google Shape;110;p9"/>
          <p:cNvSpPr/>
          <p:nvPr/>
        </p:nvSpPr>
        <p:spPr>
          <a:xfrm>
            <a:off x="4992624"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9"/>
          <p:cNvSpPr/>
          <p:nvPr/>
        </p:nvSpPr>
        <p:spPr>
          <a:xfrm>
            <a:off x="5102352"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Connect Geolocation API to a routing service for "Find the Path"</a:t>
            </a:r>
            <a:endParaRPr sz="1100" b="0" i="0" u="none" strike="noStrike" cap="none">
              <a:solidFill>
                <a:schemeClr val="dk1"/>
              </a:solidFill>
              <a:latin typeface="Calibri"/>
              <a:ea typeface="Calibri"/>
              <a:cs typeface="Calibri"/>
              <a:sym typeface="Calibri"/>
            </a:endParaRPr>
          </a:p>
        </p:txBody>
      </p:sp>
      <p:sp>
        <p:nvSpPr>
          <p:cNvPr id="112" name="Google Shape;112;p9"/>
          <p:cNvSpPr/>
          <p:nvPr/>
        </p:nvSpPr>
        <p:spPr>
          <a:xfrm>
            <a:off x="6958584"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13" name="Google Shape;113;p9"/>
          <p:cNvSpPr/>
          <p:nvPr/>
        </p:nvSpPr>
        <p:spPr>
          <a:xfrm>
            <a:off x="7214616"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p:nvPr/>
        </p:nvSpPr>
        <p:spPr>
          <a:xfrm>
            <a:off x="7214616"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Add utility buttons</a:t>
            </a:r>
            <a:endParaRPr sz="1400" b="0" i="0" u="none" strike="noStrike" cap="none">
              <a:solidFill>
                <a:schemeClr val="dk1"/>
              </a:solidFill>
              <a:latin typeface="Calibri"/>
              <a:ea typeface="Calibri"/>
              <a:cs typeface="Calibri"/>
              <a:sym typeface="Calibri"/>
            </a:endParaRPr>
          </a:p>
        </p:txBody>
      </p:sp>
      <p:sp>
        <p:nvSpPr>
          <p:cNvPr id="115" name="Google Shape;115;p9"/>
          <p:cNvSpPr/>
          <p:nvPr/>
        </p:nvSpPr>
        <p:spPr>
          <a:xfrm>
            <a:off x="7214616"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p:cNvSpPr/>
          <p:nvPr/>
        </p:nvSpPr>
        <p:spPr>
          <a:xfrm>
            <a:off x="7324344"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Emergency contacts, Freshers' Tour, light/dark toggle</a:t>
            </a:r>
            <a:endParaRPr sz="1100" b="0" i="0" u="none" strike="noStrike" cap="none">
              <a:solidFill>
                <a:schemeClr val="dk1"/>
              </a:solidFill>
              <a:latin typeface="Calibri"/>
              <a:ea typeface="Calibri"/>
              <a:cs typeface="Calibri"/>
              <a:sym typeface="Calibri"/>
            </a:endParaRPr>
          </a:p>
        </p:txBody>
      </p:sp>
      <p:sp>
        <p:nvSpPr>
          <p:cNvPr id="117" name="Google Shape;117;p9"/>
          <p:cNvSpPr/>
          <p:nvPr/>
        </p:nvSpPr>
        <p:spPr>
          <a:xfrm>
            <a:off x="9180576"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18" name="Google Shape;118;p9"/>
          <p:cNvSpPr/>
          <p:nvPr/>
        </p:nvSpPr>
        <p:spPr>
          <a:xfrm>
            <a:off x="9436608"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p:nvPr/>
        </p:nvSpPr>
        <p:spPr>
          <a:xfrm>
            <a:off x="9436608"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Test &amp; launch</a:t>
            </a:r>
            <a:endParaRPr sz="1400" b="0" i="0" u="none" strike="noStrike" cap="none">
              <a:solidFill>
                <a:schemeClr val="dk1"/>
              </a:solidFill>
              <a:latin typeface="Calibri"/>
              <a:ea typeface="Calibri"/>
              <a:cs typeface="Calibri"/>
              <a:sym typeface="Calibri"/>
            </a:endParaRPr>
          </a:p>
        </p:txBody>
      </p:sp>
      <p:sp>
        <p:nvSpPr>
          <p:cNvPr id="120" name="Google Shape;120;p9"/>
          <p:cNvSpPr/>
          <p:nvPr/>
        </p:nvSpPr>
        <p:spPr>
          <a:xfrm>
            <a:off x="9436608"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a:off x="9546336"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Test on campus Wi-Fi with real students before go-live</a:t>
            </a:r>
            <a:endParaRPr sz="1100" b="0" i="0" u="none" strike="noStrike" cap="none">
              <a:solidFill>
                <a:schemeClr val="dk1"/>
              </a:solidFill>
              <a:latin typeface="Calibri"/>
              <a:ea typeface="Calibri"/>
              <a:cs typeface="Calibri"/>
              <a:sym typeface="Calibri"/>
            </a:endParaRPr>
          </a:p>
        </p:txBody>
      </p:sp>
      <p:sp>
        <p:nvSpPr>
          <p:cNvPr id="122" name="Google Shape;122;p9"/>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7</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27"/>
        <p:cNvGrpSpPr/>
        <p:nvPr/>
      </p:nvGrpSpPr>
      <p:grpSpPr>
        <a:xfrm>
          <a:off x="0" y="0"/>
          <a:ext cx="0" cy="0"/>
          <a:chOff x="0" y="0"/>
          <a:chExt cx="0" cy="0"/>
        </a:xfrm>
      </p:grpSpPr>
      <p:sp>
        <p:nvSpPr>
          <p:cNvPr id="128" name="Google Shape;128;p10"/>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Feasibility and Viability</a:t>
            </a:r>
            <a:endParaRPr sz="3200" b="0" i="0" u="none" strike="noStrike" cap="none">
              <a:solidFill>
                <a:srgbClr val="FFD966"/>
              </a:solidFill>
              <a:latin typeface="Calibri"/>
              <a:ea typeface="Calibri"/>
              <a:cs typeface="Calibri"/>
              <a:sym typeface="Calibri"/>
            </a:endParaRPr>
          </a:p>
        </p:txBody>
      </p:sp>
      <p:sp>
        <p:nvSpPr>
          <p:cNvPr id="129" name="Google Shape;129;p10"/>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Feasibility Analysis</a:t>
            </a:r>
            <a:endParaRPr sz="1600" b="0" i="0" u="none" strike="noStrike" cap="none">
              <a:solidFill>
                <a:schemeClr val="dk1"/>
              </a:solidFill>
              <a:latin typeface="Calibri"/>
              <a:ea typeface="Calibri"/>
              <a:cs typeface="Calibri"/>
              <a:sym typeface="Calibri"/>
            </a:endParaRPr>
          </a:p>
        </p:txBody>
      </p:sp>
      <p:sp>
        <p:nvSpPr>
          <p:cNvPr id="130" name="Google Shape;130;p10"/>
          <p:cNvSpPr/>
          <p:nvPr/>
        </p:nvSpPr>
        <p:spPr>
          <a:xfrm>
            <a:off x="548640" y="2148840"/>
            <a:ext cx="11064240" cy="393192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Yes — the core pieces (interactive maps, geolocation, and a simple database) are standard web technologies that our team already has working knowledge of.</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Resources required: campus location data (coordinates + photos of menus/notices), basic web hosting, and a small amount of cloud storage for PDFs — all low-cost or free tier.</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Practical because it doesn't need any new campus infrastructure — it runs entirely as a website accessible from any phone browser.</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A first working version covering AB1, AB2, Blocks 1–8, mess halls, and Dr. Morphy can realistically be built and tested within the hackathon timeframe.</a:t>
            </a:r>
            <a:endParaRPr sz="1700" b="0" i="0" u="none" strike="noStrike" cap="none">
              <a:solidFill>
                <a:schemeClr val="dk1"/>
              </a:solidFill>
              <a:latin typeface="Calibri"/>
              <a:ea typeface="Calibri"/>
              <a:cs typeface="Calibri"/>
              <a:sym typeface="Calibri"/>
            </a:endParaRPr>
          </a:p>
        </p:txBody>
      </p:sp>
      <p:sp>
        <p:nvSpPr>
          <p:cNvPr id="131" name="Google Shape;131;p10"/>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36"/>
        <p:cNvGrpSpPr/>
        <p:nvPr/>
      </p:nvGrpSpPr>
      <p:grpSpPr>
        <a:xfrm>
          <a:off x="0" y="0"/>
          <a:ext cx="0" cy="0"/>
          <a:chOff x="0" y="0"/>
          <a:chExt cx="0" cy="0"/>
        </a:xfrm>
      </p:grpSpPr>
      <p:sp>
        <p:nvSpPr>
          <p:cNvPr id="137" name="Google Shape;137;p11"/>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Feasibility and Viability</a:t>
            </a:r>
            <a:endParaRPr sz="3200" b="0" i="0" u="none" strike="noStrike" cap="none">
              <a:solidFill>
                <a:srgbClr val="FFD966"/>
              </a:solidFill>
              <a:latin typeface="Calibri"/>
              <a:ea typeface="Calibri"/>
              <a:cs typeface="Calibri"/>
              <a:sym typeface="Calibri"/>
            </a:endParaRPr>
          </a:p>
        </p:txBody>
      </p:sp>
      <p:sp>
        <p:nvSpPr>
          <p:cNvPr id="138" name="Google Shape;138;p11"/>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Strategies to Overcome Challenges</a:t>
            </a:r>
            <a:endParaRPr sz="1600" b="0" i="0" u="none" strike="noStrike" cap="none">
              <a:solidFill>
                <a:schemeClr val="dk1"/>
              </a:solidFill>
              <a:latin typeface="Calibri"/>
              <a:ea typeface="Calibri"/>
              <a:cs typeface="Calibri"/>
              <a:sym typeface="Calibri"/>
            </a:endParaRPr>
          </a:p>
        </p:txBody>
      </p:sp>
      <p:sp>
        <p:nvSpPr>
          <p:cNvPr id="139" name="Google Shape;139;p11"/>
          <p:cNvSpPr/>
          <p:nvPr/>
        </p:nvSpPr>
        <p:spPr>
          <a:xfrm>
            <a:off x="548640" y="2148840"/>
            <a:ext cx="11064240" cy="393192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Keeping location data accurate: assign one team member to verify and update coordinates and PDFs after physically walking the campus.</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GPS accuracy indoors/near buildings: fall back to a simple step-by-step text route when live location isn't precise enough.</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Menu/photo files going out of date: store them in a shared cloud folder so they can be swapped without touching the website code.</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Low awareness among freshers: tie the website link to orientation day material and hostel WhatsApp groups for the first push.</a:t>
            </a:r>
            <a:endParaRPr sz="1700" b="0" i="0" u="none" strike="noStrike" cap="none">
              <a:solidFill>
                <a:schemeClr val="dk1"/>
              </a:solidFill>
              <a:latin typeface="Calibri"/>
              <a:ea typeface="Calibri"/>
              <a:cs typeface="Calibri"/>
              <a:sym typeface="Calibri"/>
            </a:endParaRPr>
          </a:p>
        </p:txBody>
      </p:sp>
      <p:sp>
        <p:nvSpPr>
          <p:cNvPr id="140" name="Google Shape;140;p11"/>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45"/>
        <p:cNvGrpSpPr/>
        <p:nvPr/>
      </p:nvGrpSpPr>
      <p:grpSpPr>
        <a:xfrm>
          <a:off x="0" y="0"/>
          <a:ext cx="0" cy="0"/>
          <a:chOff x="0" y="0"/>
          <a:chExt cx="0" cy="0"/>
        </a:xfrm>
      </p:grpSpPr>
      <p:sp>
        <p:nvSpPr>
          <p:cNvPr id="146" name="Google Shape;146;p12"/>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Impact and Benefits Envisaged</a:t>
            </a:r>
            <a:endParaRPr sz="3200" b="0" i="0" u="none" strike="noStrike" cap="none">
              <a:solidFill>
                <a:srgbClr val="FFD966"/>
              </a:solidFill>
              <a:latin typeface="Calibri"/>
              <a:ea typeface="Calibri"/>
              <a:cs typeface="Calibri"/>
              <a:sym typeface="Calibri"/>
            </a:endParaRPr>
          </a:p>
        </p:txBody>
      </p:sp>
      <p:sp>
        <p:nvSpPr>
          <p:cNvPr id="147" name="Google Shape;147;p12"/>
          <p:cNvSpPr/>
          <p:nvPr/>
        </p:nvSpPr>
        <p:spPr>
          <a:xfrm>
            <a:off x="548640" y="1828800"/>
            <a:ext cx="11064240" cy="429768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Freshers settle in faster, spending less of their first week lost or asking around for directions.</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Reduces load on hostel wardens, seniors, and helpdesks who currently answer the same location questions repeatedly.</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Faster access to Dr. Morphy and emergency contacts during genuine emergencies, when time matters most.</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Improves accessibility for guests and parents visiting during events without needing a student escort.</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Long-term, the same map can be extended with new blocks, new food outlets, or event-specific pins as the campus grows.</a:t>
            </a:r>
            <a:endParaRPr sz="1700" b="0" i="0" u="none" strike="noStrike" cap="none">
              <a:solidFill>
                <a:schemeClr val="dk1"/>
              </a:solidFill>
              <a:latin typeface="Calibri"/>
              <a:ea typeface="Calibri"/>
              <a:cs typeface="Calibri"/>
              <a:sym typeface="Calibri"/>
            </a:endParaRPr>
          </a:p>
        </p:txBody>
      </p:sp>
      <p:sp>
        <p:nvSpPr>
          <p:cNvPr id="148" name="Google Shape;148;p12"/>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10</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53"/>
        <p:cNvGrpSpPr/>
        <p:nvPr/>
      </p:nvGrpSpPr>
      <p:grpSpPr>
        <a:xfrm>
          <a:off x="0" y="0"/>
          <a:ext cx="0" cy="0"/>
          <a:chOff x="0" y="0"/>
          <a:chExt cx="0" cy="0"/>
        </a:xfrm>
      </p:grpSpPr>
      <p:sp>
        <p:nvSpPr>
          <p:cNvPr id="154" name="Google Shape;154;p13"/>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Why This Idea May Fail?</a:t>
            </a:r>
            <a:endParaRPr sz="3200" b="0" i="0" u="none" strike="noStrike" cap="none">
              <a:solidFill>
                <a:srgbClr val="FFD966"/>
              </a:solidFill>
              <a:latin typeface="Calibri"/>
              <a:ea typeface="Calibri"/>
              <a:cs typeface="Calibri"/>
              <a:sym typeface="Calibri"/>
            </a:endParaRPr>
          </a:p>
        </p:txBody>
      </p:sp>
      <p:sp>
        <p:nvSpPr>
          <p:cNvPr id="155" name="Google Shape;155;p13"/>
          <p:cNvSpPr/>
          <p:nvPr/>
        </p:nvSpPr>
        <p:spPr>
          <a:xfrm>
            <a:off x="548640" y="1828800"/>
            <a:ext cx="11064240" cy="411480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Assumes students will actually open and use a new website instead of asking friends or seniors — adoption depends on how well it's promoted during orientation.</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Relies on someone keeping the data (menus, contacts, timings) updated; if it goes stale, students will stop trusting it.</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Geolocation accuracy can be poor inside buildings or in areas with weak GPS signal, making "Find the Path" less reliable there.</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Needs a working internet connection to load the map, which may be an issue in low-connectivity spots on campus.</a:t>
            </a:r>
            <a:endParaRPr sz="1700" b="0" i="0" u="none" strike="noStrike" cap="none">
              <a:solidFill>
                <a:schemeClr val="dk1"/>
              </a:solidFill>
              <a:latin typeface="Calibri"/>
              <a:ea typeface="Calibri"/>
              <a:cs typeface="Calibri"/>
              <a:sym typeface="Calibri"/>
            </a:endParaRPr>
          </a:p>
        </p:txBody>
      </p:sp>
      <p:sp>
        <p:nvSpPr>
          <p:cNvPr id="156" name="Google Shape;156;p13"/>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61"/>
        <p:cNvGrpSpPr/>
        <p:nvPr/>
      </p:nvGrpSpPr>
      <p:grpSpPr>
        <a:xfrm>
          <a:off x="0" y="0"/>
          <a:ext cx="0" cy="0"/>
          <a:chOff x="0" y="0"/>
          <a:chExt cx="0" cy="0"/>
        </a:xfrm>
      </p:grpSpPr>
      <p:sp>
        <p:nvSpPr>
          <p:cNvPr id="162" name="Google Shape;162;p14"/>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References</a:t>
            </a:r>
            <a:endParaRPr sz="3200" b="0" i="0" u="none" strike="noStrike" cap="none">
              <a:solidFill>
                <a:srgbClr val="FFD966"/>
              </a:solidFill>
              <a:latin typeface="Calibri"/>
              <a:ea typeface="Calibri"/>
              <a:cs typeface="Calibri"/>
              <a:sym typeface="Calibri"/>
            </a:endParaRPr>
          </a:p>
        </p:txBody>
      </p:sp>
      <p:sp>
        <p:nvSpPr>
          <p:cNvPr id="163" name="Google Shape;163;p14"/>
          <p:cNvSpPr/>
          <p:nvPr/>
        </p:nvSpPr>
        <p:spPr>
          <a:xfrm>
            <a:off x="548640" y="1828800"/>
            <a:ext cx="11064240" cy="320040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Leaflet.js official documentation — leafletjs.com</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MDN Web Docs — Geolocation API</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Firebase documentation — firebase.google.com/docs</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Campus location photographs and menu references collected by the team on-site</a:t>
            </a:r>
            <a:endParaRPr sz="1700" b="0" i="0" u="none" strike="noStrike" cap="none">
              <a:solidFill>
                <a:schemeClr val="dk1"/>
              </a:solidFill>
              <a:latin typeface="Calibri"/>
              <a:ea typeface="Calibri"/>
              <a:cs typeface="Calibri"/>
              <a:sym typeface="Calibri"/>
            </a:endParaRPr>
          </a:p>
        </p:txBody>
      </p:sp>
      <p:sp>
        <p:nvSpPr>
          <p:cNvPr id="164" name="Google Shape;164;p14"/>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61">
          <a:extLst>
            <a:ext uri="{FF2B5EF4-FFF2-40B4-BE49-F238E27FC236}">
              <a16:creationId xmlns:a16="http://schemas.microsoft.com/office/drawing/2014/main" id="{809A3507-9AA5-0F8A-3D92-DC5DE9CCE312}"/>
            </a:ext>
          </a:extLst>
        </p:cNvPr>
        <p:cNvGrpSpPr/>
        <p:nvPr/>
      </p:nvGrpSpPr>
      <p:grpSpPr>
        <a:xfrm>
          <a:off x="0" y="0"/>
          <a:ext cx="0" cy="0"/>
          <a:chOff x="0" y="0"/>
          <a:chExt cx="0" cy="0"/>
        </a:xfrm>
      </p:grpSpPr>
      <p:sp>
        <p:nvSpPr>
          <p:cNvPr id="162" name="Google Shape;162;p14">
            <a:extLst>
              <a:ext uri="{FF2B5EF4-FFF2-40B4-BE49-F238E27FC236}">
                <a16:creationId xmlns:a16="http://schemas.microsoft.com/office/drawing/2014/main" id="{6026AFB3-A975-A9A1-26A0-56B717810447}"/>
              </a:ext>
            </a:extLst>
          </p:cNvPr>
          <p:cNvSpPr/>
          <p:nvPr/>
        </p:nvSpPr>
        <p:spPr>
          <a:xfrm>
            <a:off x="548640" y="411479"/>
            <a:ext cx="11064240" cy="5904653"/>
          </a:xfrm>
          <a:prstGeom prst="rect">
            <a:avLst/>
          </a:prstGeom>
          <a:noFill/>
          <a:ln>
            <a:noFill/>
          </a:ln>
        </p:spPr>
        <p:txBody>
          <a:bodyPr spcFirstLastPara="1" wrap="square" lIns="0" tIns="0" rIns="0" bIns="0" anchor="ctr" anchorCtr="0">
            <a:noAutofit/>
          </a:bodyPr>
          <a:lstStyle/>
          <a:p>
            <a:pPr lvl="0">
              <a:buClr>
                <a:srgbClr val="FFFFFF"/>
              </a:buClr>
              <a:buSzPts val="3200"/>
            </a:pPr>
            <a:r>
              <a:rPr lang="en-US" sz="3200" b="1" dirty="0">
                <a:solidFill>
                  <a:srgbClr val="FFD966"/>
                </a:solidFill>
                <a:ea typeface="Calibri"/>
              </a:rPr>
              <a:t>GITHUB LINK:-</a:t>
            </a:r>
          </a:p>
          <a:p>
            <a:pPr lvl="0">
              <a:buClr>
                <a:srgbClr val="FFFFFF"/>
              </a:buClr>
              <a:buSzPts val="3200"/>
            </a:pPr>
            <a:r>
              <a:rPr lang="en-US" sz="3200" b="1" dirty="0">
                <a:solidFill>
                  <a:srgbClr val="FFD966"/>
                </a:solidFill>
                <a:ea typeface="Calibri"/>
                <a:hlinkClick r:id="rId3"/>
              </a:rPr>
              <a:t>https://github.com/divyanshmehta-dev/NullSyndicate-DivyanshMehta</a:t>
            </a:r>
            <a:endParaRPr lang="en-US" sz="3200" b="1" dirty="0">
              <a:solidFill>
                <a:srgbClr val="FFD966"/>
              </a:solidFill>
              <a:ea typeface="Calibri"/>
            </a:endParaRPr>
          </a:p>
          <a:p>
            <a:pPr lvl="0">
              <a:buClr>
                <a:srgbClr val="FFFFFF"/>
              </a:buClr>
              <a:buSzPts val="3200"/>
            </a:pPr>
            <a:endParaRPr lang="en-US" sz="3200" b="1" dirty="0">
              <a:solidFill>
                <a:srgbClr val="FFD966"/>
              </a:solidFill>
              <a:ea typeface="Calibri"/>
            </a:endParaRPr>
          </a:p>
          <a:p>
            <a:pPr marL="0" marR="0" lvl="0" indent="0" algn="l" rtl="0">
              <a:spcBef>
                <a:spcPts val="0"/>
              </a:spcBef>
              <a:spcAft>
                <a:spcPts val="0"/>
              </a:spcAft>
              <a:buClr>
                <a:srgbClr val="FFFFFF"/>
              </a:buClr>
              <a:buSzPts val="3200"/>
              <a:buFont typeface="Arial"/>
              <a:buNone/>
            </a:pPr>
            <a:r>
              <a:rPr lang="en-US" sz="3200" b="1" dirty="0">
                <a:solidFill>
                  <a:srgbClr val="FFD966"/>
                </a:solidFill>
                <a:ea typeface="Calibri"/>
              </a:rPr>
              <a:t>VIDEO LINK:-</a:t>
            </a:r>
          </a:p>
          <a:p>
            <a:pPr lvl="0">
              <a:buClr>
                <a:srgbClr val="FFFFFF"/>
              </a:buClr>
              <a:buSzPts val="3200"/>
            </a:pPr>
            <a:r>
              <a:rPr lang="en-US" sz="3200" b="1" dirty="0">
                <a:solidFill>
                  <a:schemeClr val="bg1"/>
                </a:solidFill>
                <a:ea typeface="Calibri"/>
                <a:hlinkClick r:id="rId4"/>
              </a:rPr>
              <a:t>https://drive.google.com/file/d/1t79SKB1LbL42Jz_b803I81QnUcTowG1j/view?usp=drivesdk</a:t>
            </a:r>
            <a:endParaRPr lang="en-US" sz="3200" b="1" dirty="0">
              <a:solidFill>
                <a:schemeClr val="bg1"/>
              </a:solidFill>
              <a:ea typeface="Calibri"/>
            </a:endParaRPr>
          </a:p>
          <a:p>
            <a:pPr lvl="0">
              <a:buClr>
                <a:srgbClr val="FFFFFF"/>
              </a:buClr>
              <a:buSzPts val="3200"/>
            </a:pPr>
            <a:endParaRPr lang="en-US" sz="3200" b="1" dirty="0">
              <a:solidFill>
                <a:schemeClr val="bg1"/>
              </a:solidFill>
              <a:ea typeface="Calibri"/>
            </a:endParaRPr>
          </a:p>
          <a:p>
            <a:pPr lvl="0">
              <a:buClr>
                <a:srgbClr val="FFFFFF"/>
              </a:buClr>
              <a:buSzPts val="3200"/>
            </a:pPr>
            <a:r>
              <a:rPr lang="en-US" sz="3200" b="1" dirty="0">
                <a:solidFill>
                  <a:srgbClr val="FFC000"/>
                </a:solidFill>
                <a:ea typeface="Calibri"/>
              </a:rPr>
              <a:t>DEPLOYMENT:-</a:t>
            </a:r>
          </a:p>
          <a:p>
            <a:pPr lvl="0">
              <a:buClr>
                <a:srgbClr val="FFFFFF"/>
              </a:buClr>
              <a:buSzPts val="3200"/>
            </a:pPr>
            <a:r>
              <a:rPr lang="en-US" sz="3200" b="1">
                <a:solidFill>
                  <a:srgbClr val="FFC000"/>
                </a:solidFill>
                <a:ea typeface="Calibri"/>
                <a:hlinkClick r:id="rId5"/>
              </a:rPr>
              <a:t>https://null-syndicate-divyansh-mehta-yzcm.vercel.app/</a:t>
            </a:r>
            <a:endParaRPr lang="en-US" sz="3200" b="1">
              <a:solidFill>
                <a:srgbClr val="FFC000"/>
              </a:solidFill>
              <a:ea typeface="Calibri"/>
            </a:endParaRPr>
          </a:p>
          <a:p>
            <a:pPr lvl="0">
              <a:buClr>
                <a:srgbClr val="FFFFFF"/>
              </a:buClr>
              <a:buSzPts val="3200"/>
            </a:pPr>
            <a:endParaRPr lang="en-US" sz="3200" b="1" dirty="0">
              <a:solidFill>
                <a:srgbClr val="FFC000"/>
              </a:solidFill>
              <a:ea typeface="Calibri"/>
            </a:endParaRPr>
          </a:p>
        </p:txBody>
      </p:sp>
      <p:sp>
        <p:nvSpPr>
          <p:cNvPr id="163" name="Google Shape;163;p14">
            <a:extLst>
              <a:ext uri="{FF2B5EF4-FFF2-40B4-BE49-F238E27FC236}">
                <a16:creationId xmlns:a16="http://schemas.microsoft.com/office/drawing/2014/main" id="{C56348DA-724A-AC91-D87D-AD76A742830C}"/>
              </a:ext>
            </a:extLst>
          </p:cNvPr>
          <p:cNvSpPr/>
          <p:nvPr/>
        </p:nvSpPr>
        <p:spPr>
          <a:xfrm>
            <a:off x="548640" y="1828800"/>
            <a:ext cx="11064240" cy="320040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endParaRPr sz="1700" b="0" i="0" u="none" strike="noStrike" cap="none" dirty="0">
              <a:solidFill>
                <a:schemeClr val="dk1"/>
              </a:solidFill>
              <a:latin typeface="Calibri"/>
              <a:ea typeface="Calibri"/>
              <a:cs typeface="Calibri"/>
              <a:sym typeface="Calibri"/>
            </a:endParaRPr>
          </a:p>
        </p:txBody>
      </p:sp>
      <p:sp>
        <p:nvSpPr>
          <p:cNvPr id="164" name="Google Shape;164;p14">
            <a:extLst>
              <a:ext uri="{FF2B5EF4-FFF2-40B4-BE49-F238E27FC236}">
                <a16:creationId xmlns:a16="http://schemas.microsoft.com/office/drawing/2014/main" id="{6EA660E2-232D-61AD-B155-33EA8C26AFE3}"/>
              </a:ext>
            </a:extLst>
          </p:cNvPr>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12</a:t>
            </a:r>
            <a:endParaRPr sz="10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3752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69"/>
        <p:cNvGrpSpPr/>
        <p:nvPr/>
      </p:nvGrpSpPr>
      <p:grpSpPr>
        <a:xfrm>
          <a:off x="0" y="0"/>
          <a:ext cx="0" cy="0"/>
          <a:chOff x="0" y="0"/>
          <a:chExt cx="0" cy="0"/>
        </a:xfrm>
      </p:grpSpPr>
      <p:sp>
        <p:nvSpPr>
          <p:cNvPr id="170" name="Google Shape;170;p15"/>
          <p:cNvSpPr/>
          <p:nvPr/>
        </p:nvSpPr>
        <p:spPr>
          <a:xfrm>
            <a:off x="731725" y="2264275"/>
            <a:ext cx="10698600" cy="1180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4400"/>
              <a:buFont typeface="Arial"/>
              <a:buNone/>
            </a:pPr>
            <a:r>
              <a:rPr lang="en-US" sz="4800" b="1" i="0" u="none" strike="noStrike" cap="none">
                <a:solidFill>
                  <a:srgbClr val="FFD966"/>
                </a:solidFill>
                <a:latin typeface="Arial"/>
                <a:ea typeface="Arial"/>
                <a:cs typeface="Arial"/>
                <a:sym typeface="Arial"/>
              </a:rPr>
              <a:t>Thank You</a:t>
            </a:r>
            <a:endParaRPr sz="4800" b="0" i="0" u="none" strike="noStrike" cap="none">
              <a:solidFill>
                <a:srgbClr val="FFD966"/>
              </a:solidFill>
              <a:latin typeface="Calibri"/>
              <a:ea typeface="Calibri"/>
              <a:cs typeface="Calibri"/>
              <a:sym typeface="Calibri"/>
            </a:endParaRPr>
          </a:p>
        </p:txBody>
      </p:sp>
      <p:sp>
        <p:nvSpPr>
          <p:cNvPr id="171" name="Google Shape;171;p15"/>
          <p:cNvSpPr/>
          <p:nvPr/>
        </p:nvSpPr>
        <p:spPr>
          <a:xfrm>
            <a:off x="731520" y="3520440"/>
            <a:ext cx="106984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C9CE"/>
              </a:buClr>
              <a:buSzPts val="1800"/>
              <a:buFont typeface="Arial"/>
              <a:buNone/>
            </a:pPr>
            <a:r>
              <a:rPr lang="en-US" sz="1800" b="0" i="0" u="none" strike="noStrike" cap="none">
                <a:solidFill>
                  <a:srgbClr val="6C4FE0"/>
                </a:solidFill>
                <a:latin typeface="Arial"/>
                <a:ea typeface="Arial"/>
                <a:cs typeface="Arial"/>
                <a:sym typeface="Arial"/>
              </a:rPr>
              <a:t>Questions are welcome</a:t>
            </a:r>
            <a:endParaRPr sz="1800" b="0" i="0" u="none" strike="noStrike" cap="none">
              <a:solidFill>
                <a:srgbClr val="6C4FE0"/>
              </a:solidFill>
              <a:latin typeface="Calibri"/>
              <a:ea typeface="Calibri"/>
              <a:cs typeface="Calibri"/>
              <a:sym typeface="Calibri"/>
            </a:endParaRPr>
          </a:p>
        </p:txBody>
      </p:sp>
      <p:sp>
        <p:nvSpPr>
          <p:cNvPr id="172" name="Google Shape;172;p15"/>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1273</Words>
  <Application>Microsoft Office PowerPoint</Application>
  <PresentationFormat>Widescreen</PresentationFormat>
  <Paragraphs>137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abhinavjain180307@gmail.com</cp:lastModifiedBy>
  <cp:revision>5</cp:revision>
  <dcterms:modified xsi:type="dcterms:W3CDTF">2026-07-31T04:55:39Z</dcterms:modified>
</cp:coreProperties>
</file>