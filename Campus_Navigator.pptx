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docProps/app.xml" ContentType="application/vnd.openxmlformats-officedocument.extended-properties+xml"/>
  <Override PartName="/docProps/core.xml" ContentType="application/vnd.openxmlformats-package.core-properties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Default Extension="png" ContentType="image/png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docProps/custom.xml" ContentType="application/vnd.openxmlformats-officedocument.custom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12192000" cy="6858000"/>
  <p:defaultTextStyle>
    <a:defPPr>
      <a:defRPr kern="0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8" d="100"/>
          <a:sy n="78" d="100"/>
        </p:scale>
        <p:origin x="-1536" y="-8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viewProps" Target="viewProps.xml"/><Relationship Id="rId4" Type="http://schemas.openxmlformats.org/officeDocument/2006/relationships/presProps" Target="pres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510583" y="2463177"/>
            <a:ext cx="3170832" cy="75691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FFD966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5A5A6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#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FFD966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5A5A6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#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FFD966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idx="2" sz="half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idx="3" sz="half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Holder 6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7" name="Holder 7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5A5A6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#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200" b="1" i="0">
                <a:solidFill>
                  <a:srgbClr val="FFD966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5" name="Holder 5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5A5A6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#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 showMasterSp="0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idx="5" sz="quarter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dt" idx="6" sz="half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4" name="Holder 4"/>
          <p:cNvSpPr>
            <a:spLocks noGrp="1"/>
          </p:cNvSpPr>
          <p:nvPr>
            <p:ph type="sldNum" idx="7" sz="quarter"/>
          </p:nvPr>
        </p:nvSpPr>
        <p:spPr/>
        <p:txBody>
          <a:bodyPr lIns="0" tIns="0" rIns="0" bIns="0"/>
          <a:lstStyle>
            <a:lvl1pPr>
              <a:defRPr sz="1000" b="0" i="0">
                <a:solidFill>
                  <a:srgbClr val="5A5A6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#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A0A0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35940" y="557822"/>
            <a:ext cx="6029325" cy="5130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3200" b="1" i="0">
                <a:solidFill>
                  <a:srgbClr val="FFD966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35940" y="2367788"/>
            <a:ext cx="8141334" cy="19837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/>
        </p:txBody>
      </p:sp>
      <p:sp>
        <p:nvSpPr>
          <p:cNvPr id="4" name="Holder 4"/>
          <p:cNvSpPr>
            <a:spLocks noGrp="1"/>
          </p:cNvSpPr>
          <p:nvPr>
            <p:ph type="ftr" idx="5" sz="quarte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Holder 5"/>
          <p:cNvSpPr>
            <a:spLocks noGrp="1"/>
          </p:cNvSpPr>
          <p:nvPr>
            <p:ph type="dt" idx="6" sz="half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</a:fld>
          </a:p>
        </p:txBody>
      </p:sp>
      <p:sp>
        <p:nvSpPr>
          <p:cNvPr id="6" name="Holder 6"/>
          <p:cNvSpPr>
            <a:spLocks noGrp="1"/>
          </p:cNvSpPr>
          <p:nvPr>
            <p:ph type="sldNum" idx="7" sz="quarter"/>
          </p:nvPr>
        </p:nvSpPr>
        <p:spPr>
          <a:xfrm>
            <a:off x="11825037" y="6504117"/>
            <a:ext cx="205104" cy="16764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0" i="0">
                <a:solidFill>
                  <a:srgbClr val="5A5A61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#</a:t>
            </a:fld>
          </a:p>
        </p:txBody>
      </p:sp>
    </p:spTree>
  </p:cSld>
  <p:clrMap folHlink="folHlink" hlink="hlink" accent1="accent1" accent2="accent2" accent3="accent3" accent4="accent4" accent5="accent5" accent6="accent6" tx2="dk2" bg2="lt2" tx1="dk1" bg1="lt1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3.xml"/></Relationships>
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.xml"/></Relationships>
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.png"/></Relationships>
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hyperlink" Target="https://github.com/divyanshmehta-dev/NullSyndicate-" TargetMode="External"/><Relationship Id="rId3" Type="http://schemas.openxmlformats.org/officeDocument/2006/relationships/hyperlink" Target="https://drive.google.com/file/d/1t79SKB1LbL42Jz_b803I81QnUcTowG1j/view?usp=drivesdk" TargetMode="External"/></Relationships>
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718819" y="1805622"/>
            <a:ext cx="7505065" cy="1402715"/>
          </a:xfrm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dirty="0" sz="3900"/>
              <a:t>VIT</a:t>
            </a:r>
            <a:r>
              <a:rPr dirty="0" sz="3900" spc="-35"/>
              <a:t> </a:t>
            </a:r>
            <a:r>
              <a:rPr dirty="0" sz="3900"/>
              <a:t>BHOPAL</a:t>
            </a:r>
            <a:r>
              <a:rPr dirty="0" sz="3900" spc="-30"/>
              <a:t> </a:t>
            </a:r>
            <a:r>
              <a:rPr dirty="0" sz="3900"/>
              <a:t>-</a:t>
            </a:r>
            <a:r>
              <a:rPr dirty="0" sz="3900" spc="-35"/>
              <a:t> </a:t>
            </a:r>
            <a:r>
              <a:rPr dirty="0" sz="3900"/>
              <a:t>SMART</a:t>
            </a:r>
            <a:r>
              <a:rPr dirty="0" sz="3900" spc="-30"/>
              <a:t> </a:t>
            </a:r>
            <a:r>
              <a:rPr dirty="0" sz="3900" spc="-10"/>
              <a:t>CAMPUS NAVIGATION</a:t>
            </a:r>
            <a:endParaRPr sz="3900"/>
          </a:p>
          <a:p>
            <a:pPr marL="12700">
              <a:lnSpc>
                <a:spcPts val="1485"/>
              </a:lnSpc>
            </a:pP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800" spc="-20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campus</a:t>
            </a:r>
            <a:r>
              <a:rPr dirty="0" sz="1800" spc="-10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map</a:t>
            </a:r>
            <a:r>
              <a:rPr dirty="0" sz="1800" spc="-5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&amp;</a:t>
            </a:r>
            <a:r>
              <a:rPr dirty="0" sz="1800" spc="-10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assistance</a:t>
            </a:r>
            <a:r>
              <a:rPr dirty="0" sz="1800" spc="-5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web</a:t>
            </a:r>
            <a:r>
              <a:rPr dirty="0" sz="1800" spc="-10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app</a:t>
            </a:r>
            <a:r>
              <a:rPr dirty="0" sz="1800" spc="-10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for</a:t>
            </a:r>
            <a:r>
              <a:rPr dirty="0" sz="1800" spc="-5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freshers</a:t>
            </a:r>
            <a:r>
              <a:rPr dirty="0" sz="1800" spc="-10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b="0">
                <a:solidFill>
                  <a:srgbClr val="C8C8CE"/>
                </a:solidFill>
                <a:latin typeface="Arial"/>
                <a:cs typeface="Arial"/>
              </a:rPr>
              <a:t>and</a:t>
            </a:r>
            <a:r>
              <a:rPr dirty="0" sz="1800" spc="-5" b="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800" spc="-10" b="0">
                <a:solidFill>
                  <a:srgbClr val="C8C8CE"/>
                </a:solidFill>
                <a:latin typeface="Arial"/>
                <a:cs typeface="Arial"/>
              </a:rPr>
              <a:t>students</a:t>
            </a:r>
            <a:endParaRPr sz="18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18819" y="3526573"/>
            <a:ext cx="3138170" cy="186245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>
                <a:solidFill>
                  <a:srgbClr val="6C4FDF"/>
                </a:solidFill>
                <a:latin typeface="Arial"/>
                <a:cs typeface="Arial"/>
              </a:rPr>
              <a:t>Proposed</a:t>
            </a:r>
            <a:r>
              <a:rPr dirty="0" sz="1500" spc="-45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6C4FDF"/>
                </a:solidFill>
                <a:latin typeface="Arial"/>
                <a:cs typeface="Arial"/>
              </a:rPr>
              <a:t>by:</a:t>
            </a:r>
            <a:r>
              <a:rPr dirty="0" sz="1500" spc="-40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6C4FDF"/>
                </a:solidFill>
                <a:latin typeface="Arial"/>
                <a:cs typeface="Arial"/>
              </a:rPr>
              <a:t>Team</a:t>
            </a:r>
            <a:r>
              <a:rPr dirty="0" sz="1500" spc="-40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6C4FDF"/>
                </a:solidFill>
                <a:latin typeface="Arial"/>
                <a:cs typeface="Arial"/>
              </a:rPr>
              <a:t>Null</a:t>
            </a:r>
            <a:r>
              <a:rPr dirty="0" sz="1500" spc="-40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6C4FDF"/>
                </a:solidFill>
                <a:latin typeface="Arial"/>
                <a:cs typeface="Arial"/>
              </a:rPr>
              <a:t>Syndicate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95"/>
              </a:spcBef>
            </a:pPr>
            <a:endParaRPr sz="15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Abhinav</a:t>
            </a:r>
            <a:r>
              <a:rPr dirty="0" sz="14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Jain</a:t>
            </a:r>
            <a:r>
              <a:rPr dirty="0" sz="14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400" spc="-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Arial"/>
                <a:cs typeface="Arial"/>
              </a:rPr>
              <a:t>25BCE10045</a:t>
            </a:r>
            <a:endParaRPr sz="1400">
              <a:latin typeface="Arial"/>
              <a:cs typeface="Arial"/>
            </a:endParaRPr>
          </a:p>
          <a:p>
            <a:pPr marL="12700" marR="5080">
              <a:lnSpc>
                <a:spcPct val="150000"/>
              </a:lnSpc>
            </a:pP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Bhavya</a:t>
            </a:r>
            <a:r>
              <a:rPr dirty="0" sz="14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Gaurang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Vyas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Arial"/>
                <a:cs typeface="Arial"/>
              </a:rPr>
              <a:t>25BCE10400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Divyansh</a:t>
            </a:r>
            <a:r>
              <a:rPr dirty="0" sz="14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Mehta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Arial"/>
                <a:cs typeface="Arial"/>
              </a:rPr>
              <a:t>25BCY10194</a:t>
            </a:r>
            <a:r>
              <a:rPr dirty="0" sz="1400" spc="50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Aryan</a:t>
            </a:r>
            <a:r>
              <a:rPr dirty="0" sz="14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Uday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Kansagara</a:t>
            </a:r>
            <a:r>
              <a:rPr dirty="0" sz="14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4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>
                <a:solidFill>
                  <a:srgbClr val="FFFFFF"/>
                </a:solidFill>
                <a:latin typeface="Arial"/>
                <a:cs typeface="Arial"/>
              </a:rPr>
              <a:t>25BAI11021</a:t>
            </a:r>
            <a:endParaRPr sz="14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The </a:t>
            </a:r>
            <a:r>
              <a:rPr dirty="0" spc="-10"/>
              <a:t>Problem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864600"/>
            <a:ext cx="10782300" cy="38506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5600" marR="459740" indent="-342900">
              <a:lnSpc>
                <a:spcPct val="150000"/>
              </a:lnSpc>
              <a:spcBef>
                <a:spcPts val="100"/>
              </a:spcBef>
              <a:buChar char="•"/>
              <a:tabLst>
                <a:tab pos="355600" algn="l"/>
              </a:tabLst>
            </a:pP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Every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year,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freshers</a:t>
            </a:r>
            <a:r>
              <a:rPr dirty="0" sz="1800" spc="-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arrive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800" spc="-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without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clear</a:t>
            </a:r>
            <a:r>
              <a:rPr dirty="0" sz="1800" spc="-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idea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dirty="0" sz="1800" spc="-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things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800" spc="-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academic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blocks,</a:t>
            </a:r>
            <a:r>
              <a:rPr dirty="0" sz="18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hostels,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mess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halls,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medical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help,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food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outlets.</a:t>
            </a:r>
            <a:endParaRPr sz="1800">
              <a:latin typeface="Arial"/>
              <a:cs typeface="Arial"/>
            </a:endParaRPr>
          </a:p>
          <a:p>
            <a:pPr marL="355600" marR="81915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layouts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(AB1,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AB2,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Blocks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8,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hostel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wings,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sports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areas)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large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confusing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first-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visitors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even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some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seniors.</a:t>
            </a:r>
            <a:endParaRPr sz="1800">
              <a:latin typeface="Arial"/>
              <a:cs typeface="Arial"/>
            </a:endParaRPr>
          </a:p>
          <a:p>
            <a:pPr marL="355600" marR="1905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Information</a:t>
            </a:r>
            <a:r>
              <a:rPr dirty="0" sz="18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about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mess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menus,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cafe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menus,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emergency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contacts,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medical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services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scattered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 spc="-50">
                <a:solidFill>
                  <a:srgbClr val="FFFFFF"/>
                </a:solidFill>
                <a:latin typeface="Arial"/>
                <a:cs typeface="Arial"/>
              </a:rPr>
              <a:t>—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students</a:t>
            </a:r>
            <a:r>
              <a:rPr dirty="0" sz="18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ask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around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search</a:t>
            </a:r>
            <a:r>
              <a:rPr dirty="0" sz="18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social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media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groups.</a:t>
            </a:r>
            <a:endParaRPr sz="1800">
              <a:latin typeface="Arial"/>
              <a:cs typeface="Arial"/>
            </a:endParaRPr>
          </a:p>
          <a:p>
            <a:pPr marL="355600" marR="508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There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no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single,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reliable,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always-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available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source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tells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student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where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place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is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80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800" spc="-25">
                <a:solidFill>
                  <a:srgbClr val="FFFFFF"/>
                </a:solidFill>
                <a:latin typeface="Arial"/>
                <a:cs typeface="Arial"/>
              </a:rPr>
              <a:t>get </a:t>
            </a:r>
            <a:r>
              <a:rPr dirty="0" sz="1800" spc="-10">
                <a:solidFill>
                  <a:srgbClr val="FFFFFF"/>
                </a:solidFill>
                <a:latin typeface="Arial"/>
                <a:cs typeface="Arial"/>
              </a:rPr>
              <a:t>there.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Proposed</a:t>
            </a:r>
            <a:r>
              <a:rPr dirty="0" spc="-40"/>
              <a:t> </a:t>
            </a:r>
            <a:r>
              <a:rPr dirty="0" spc="-10"/>
              <a:t>Solution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958352"/>
            <a:ext cx="10838815" cy="39039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</a:tabLst>
            </a:pP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web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app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shows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interactive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map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every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important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pinned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labeled.</a:t>
            </a:r>
            <a:endParaRPr sz="1650">
              <a:latin typeface="Arial"/>
              <a:cs typeface="Arial"/>
            </a:endParaRPr>
          </a:p>
          <a:p>
            <a:pPr marL="355600" marR="73660" indent="-342900">
              <a:lnSpc>
                <a:spcPct val="150000"/>
              </a:lnSpc>
              <a:spcBef>
                <a:spcPts val="1200"/>
              </a:spcBef>
              <a:buChar char="•"/>
              <a:tabLst>
                <a:tab pos="355600" algn="l"/>
              </a:tabLst>
            </a:pP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Locations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covered: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Academic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Block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1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(AB1)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AB2,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Blocks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1–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8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(including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8A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8B),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boys'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hostel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mess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halls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(Anchor,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JMB,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Safal,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Mayuri),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Special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Block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food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parcel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counter,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both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gates,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MPH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sports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complex,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Dr.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Morphy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(campus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medical/emergency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centre).</a:t>
            </a:r>
            <a:endParaRPr sz="1650">
              <a:latin typeface="Arial"/>
              <a:cs typeface="Arial"/>
            </a:endParaRPr>
          </a:p>
          <a:p>
            <a:pPr marL="355600" marR="252095" indent="-342900">
              <a:lnSpc>
                <a:spcPct val="150000"/>
              </a:lnSpc>
              <a:spcBef>
                <a:spcPts val="1200"/>
              </a:spcBef>
              <a:buChar char="•"/>
              <a:tabLst>
                <a:tab pos="355600" algn="l"/>
              </a:tabLst>
            </a:pP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Cafes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eateries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marked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too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Underbelly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near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AB1,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Bistro,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AB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Dakshin,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Mayuri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Special Block.</a:t>
            </a:r>
            <a:endParaRPr sz="1650">
              <a:latin typeface="Arial"/>
              <a:cs typeface="Arial"/>
            </a:endParaRPr>
          </a:p>
          <a:p>
            <a:pPr marL="355600" marR="5080" indent="-342900">
              <a:lnSpc>
                <a:spcPct val="150000"/>
              </a:lnSpc>
              <a:spcBef>
                <a:spcPts val="1200"/>
              </a:spcBef>
              <a:buChar char="•"/>
              <a:tabLst>
                <a:tab pos="355600" algn="l"/>
              </a:tabLst>
            </a:pP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Tapping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place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opens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its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description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along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linked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PDF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(menu,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timing,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details)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so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students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don't</a:t>
            </a:r>
            <a:r>
              <a:rPr dirty="0" sz="16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need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 spc="-25">
                <a:solidFill>
                  <a:srgbClr val="FFFFFF"/>
                </a:solidFill>
                <a:latin typeface="Arial"/>
                <a:cs typeface="Arial"/>
              </a:rPr>
              <a:t>to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search</a:t>
            </a:r>
            <a:r>
              <a:rPr dirty="0" sz="16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elsewhere.</a:t>
            </a:r>
            <a:endParaRPr sz="165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FFFFFF"/>
              </a:buClr>
              <a:buFont typeface="Arial"/>
              <a:buChar char="•"/>
            </a:pPr>
            <a:endParaRPr sz="165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Built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freshers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day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one,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but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useful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every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student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even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visiting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parents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650" spc="-1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50" spc="-10">
                <a:solidFill>
                  <a:srgbClr val="FFFFFF"/>
                </a:solidFill>
                <a:latin typeface="Arial"/>
                <a:cs typeface="Arial"/>
              </a:rPr>
              <a:t>guests.</a:t>
            </a:r>
            <a:endParaRPr sz="165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Key</a:t>
            </a:r>
            <a:r>
              <a:rPr dirty="0" spc="-10"/>
              <a:t> Features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42290" y="1776730"/>
            <a:ext cx="5407660" cy="1430020"/>
            <a:chOff x="542290" y="1776730"/>
            <a:chExt cx="5407660" cy="1430020"/>
          </a:xfrm>
        </p:grpSpPr>
        <p:sp>
          <p:nvSpPr>
            <p:cNvPr id="4" name="object 4"/>
            <p:cNvSpPr/>
            <p:nvPr/>
          </p:nvSpPr>
          <p:spPr>
            <a:xfrm>
              <a:off x="548639" y="1783079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60" h="1417320">
                  <a:moveTo>
                    <a:pt x="5321808" y="0"/>
                  </a:moveTo>
                  <a:lnTo>
                    <a:pt x="73147" y="0"/>
                  </a:lnTo>
                  <a:lnTo>
                    <a:pt x="44789" y="5786"/>
                  </a:lnTo>
                  <a:lnTo>
                    <a:pt x="21525" y="21526"/>
                  </a:lnTo>
                  <a:lnTo>
                    <a:pt x="5786" y="44791"/>
                  </a:lnTo>
                  <a:lnTo>
                    <a:pt x="0" y="73151"/>
                  </a:lnTo>
                  <a:lnTo>
                    <a:pt x="0" y="1344167"/>
                  </a:lnTo>
                  <a:lnTo>
                    <a:pt x="5786" y="1372528"/>
                  </a:lnTo>
                  <a:lnTo>
                    <a:pt x="21525" y="1395793"/>
                  </a:lnTo>
                  <a:lnTo>
                    <a:pt x="44789" y="1411533"/>
                  </a:lnTo>
                  <a:lnTo>
                    <a:pt x="73147" y="1417320"/>
                  </a:lnTo>
                  <a:lnTo>
                    <a:pt x="5321808" y="1417320"/>
                  </a:lnTo>
                  <a:lnTo>
                    <a:pt x="5350168" y="1411533"/>
                  </a:lnTo>
                  <a:lnTo>
                    <a:pt x="5373433" y="1395793"/>
                  </a:lnTo>
                  <a:lnTo>
                    <a:pt x="5389173" y="1372528"/>
                  </a:lnTo>
                  <a:lnTo>
                    <a:pt x="5394960" y="1344167"/>
                  </a:lnTo>
                  <a:lnTo>
                    <a:pt x="5394960" y="73151"/>
                  </a:lnTo>
                  <a:lnTo>
                    <a:pt x="5389173" y="44791"/>
                  </a:lnTo>
                  <a:lnTo>
                    <a:pt x="5373433" y="21526"/>
                  </a:lnTo>
                  <a:lnTo>
                    <a:pt x="5350168" y="5786"/>
                  </a:lnTo>
                  <a:lnTo>
                    <a:pt x="5321808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5" name="object 5"/>
            <p:cNvSpPr/>
            <p:nvPr/>
          </p:nvSpPr>
          <p:spPr>
            <a:xfrm>
              <a:off x="548639" y="1783079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60" h="1417320">
                  <a:moveTo>
                    <a:pt x="0" y="73151"/>
                  </a:moveTo>
                  <a:lnTo>
                    <a:pt x="5786" y="44791"/>
                  </a:lnTo>
                  <a:lnTo>
                    <a:pt x="21525" y="21526"/>
                  </a:lnTo>
                  <a:lnTo>
                    <a:pt x="44789" y="5786"/>
                  </a:lnTo>
                  <a:lnTo>
                    <a:pt x="73147" y="0"/>
                  </a:lnTo>
                  <a:lnTo>
                    <a:pt x="5321808" y="0"/>
                  </a:lnTo>
                  <a:lnTo>
                    <a:pt x="5350168" y="5786"/>
                  </a:lnTo>
                  <a:lnTo>
                    <a:pt x="5373433" y="21526"/>
                  </a:lnTo>
                  <a:lnTo>
                    <a:pt x="5389173" y="44791"/>
                  </a:lnTo>
                  <a:lnTo>
                    <a:pt x="5394960" y="73151"/>
                  </a:lnTo>
                  <a:lnTo>
                    <a:pt x="5394960" y="1344167"/>
                  </a:lnTo>
                  <a:lnTo>
                    <a:pt x="5389173" y="1372528"/>
                  </a:lnTo>
                  <a:lnTo>
                    <a:pt x="5373433" y="1395793"/>
                  </a:lnTo>
                  <a:lnTo>
                    <a:pt x="5350168" y="1411533"/>
                  </a:lnTo>
                  <a:lnTo>
                    <a:pt x="5321808" y="1417320"/>
                  </a:lnTo>
                  <a:lnTo>
                    <a:pt x="73147" y="1417320"/>
                  </a:lnTo>
                  <a:lnTo>
                    <a:pt x="44789" y="1411533"/>
                  </a:lnTo>
                  <a:lnTo>
                    <a:pt x="21525" y="1395793"/>
                  </a:lnTo>
                  <a:lnTo>
                    <a:pt x="5786" y="1372528"/>
                  </a:lnTo>
                  <a:lnTo>
                    <a:pt x="0" y="1344167"/>
                  </a:lnTo>
                  <a:lnTo>
                    <a:pt x="0" y="73151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6" name="object 6"/>
          <p:cNvSpPr txBox="1"/>
          <p:nvPr/>
        </p:nvSpPr>
        <p:spPr>
          <a:xfrm>
            <a:off x="764540" y="1964207"/>
            <a:ext cx="1503680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Interactive</a:t>
            </a:r>
            <a:r>
              <a:rPr dirty="0" sz="1600" spc="-9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spc="-25" b="1">
                <a:solidFill>
                  <a:srgbClr val="FFFFFF"/>
                </a:solidFill>
                <a:latin typeface="Arial"/>
                <a:cs typeface="Arial"/>
              </a:rPr>
              <a:t>Map</a:t>
            </a:r>
            <a:endParaRPr sz="1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64540" y="2404059"/>
            <a:ext cx="4928235" cy="520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All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blocks,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mess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halls,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cafes,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gates,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MPH,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and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Dr.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Morphy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pinned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and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labeled</a:t>
            </a:r>
            <a:r>
              <a:rPr dirty="0" sz="1250" spc="-7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clearly.</a:t>
            </a:r>
            <a:endParaRPr sz="125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6257290" y="1776730"/>
            <a:ext cx="5407660" cy="1430020"/>
            <a:chOff x="6257290" y="1776730"/>
            <a:chExt cx="5407660" cy="1430020"/>
          </a:xfrm>
        </p:grpSpPr>
        <p:sp>
          <p:nvSpPr>
            <p:cNvPr id="9" name="object 9"/>
            <p:cNvSpPr/>
            <p:nvPr/>
          </p:nvSpPr>
          <p:spPr>
            <a:xfrm>
              <a:off x="6263640" y="1783079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59" h="1417320">
                  <a:moveTo>
                    <a:pt x="5321808" y="0"/>
                  </a:moveTo>
                  <a:lnTo>
                    <a:pt x="73147" y="0"/>
                  </a:lnTo>
                  <a:lnTo>
                    <a:pt x="44789" y="5786"/>
                  </a:lnTo>
                  <a:lnTo>
                    <a:pt x="21525" y="21526"/>
                  </a:lnTo>
                  <a:lnTo>
                    <a:pt x="5786" y="44791"/>
                  </a:lnTo>
                  <a:lnTo>
                    <a:pt x="0" y="73151"/>
                  </a:lnTo>
                  <a:lnTo>
                    <a:pt x="0" y="1344167"/>
                  </a:lnTo>
                  <a:lnTo>
                    <a:pt x="5786" y="1372528"/>
                  </a:lnTo>
                  <a:lnTo>
                    <a:pt x="21525" y="1395793"/>
                  </a:lnTo>
                  <a:lnTo>
                    <a:pt x="44789" y="1411533"/>
                  </a:lnTo>
                  <a:lnTo>
                    <a:pt x="73147" y="1417320"/>
                  </a:lnTo>
                  <a:lnTo>
                    <a:pt x="5321808" y="1417320"/>
                  </a:lnTo>
                  <a:lnTo>
                    <a:pt x="5350168" y="1411533"/>
                  </a:lnTo>
                  <a:lnTo>
                    <a:pt x="5373433" y="1395793"/>
                  </a:lnTo>
                  <a:lnTo>
                    <a:pt x="5389173" y="1372528"/>
                  </a:lnTo>
                  <a:lnTo>
                    <a:pt x="5394960" y="1344167"/>
                  </a:lnTo>
                  <a:lnTo>
                    <a:pt x="5394960" y="73151"/>
                  </a:lnTo>
                  <a:lnTo>
                    <a:pt x="5389173" y="44791"/>
                  </a:lnTo>
                  <a:lnTo>
                    <a:pt x="5373433" y="21526"/>
                  </a:lnTo>
                  <a:lnTo>
                    <a:pt x="5350168" y="5786"/>
                  </a:lnTo>
                  <a:lnTo>
                    <a:pt x="5321808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0" name="object 10"/>
            <p:cNvSpPr/>
            <p:nvPr/>
          </p:nvSpPr>
          <p:spPr>
            <a:xfrm>
              <a:off x="6263640" y="1783079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59" h="1417320">
                  <a:moveTo>
                    <a:pt x="0" y="73151"/>
                  </a:moveTo>
                  <a:lnTo>
                    <a:pt x="5786" y="44791"/>
                  </a:lnTo>
                  <a:lnTo>
                    <a:pt x="21525" y="21526"/>
                  </a:lnTo>
                  <a:lnTo>
                    <a:pt x="44789" y="5786"/>
                  </a:lnTo>
                  <a:lnTo>
                    <a:pt x="73147" y="0"/>
                  </a:lnTo>
                  <a:lnTo>
                    <a:pt x="5321808" y="0"/>
                  </a:lnTo>
                  <a:lnTo>
                    <a:pt x="5350168" y="5786"/>
                  </a:lnTo>
                  <a:lnTo>
                    <a:pt x="5373433" y="21526"/>
                  </a:lnTo>
                  <a:lnTo>
                    <a:pt x="5389173" y="44791"/>
                  </a:lnTo>
                  <a:lnTo>
                    <a:pt x="5394960" y="73151"/>
                  </a:lnTo>
                  <a:lnTo>
                    <a:pt x="5394960" y="1344167"/>
                  </a:lnTo>
                  <a:lnTo>
                    <a:pt x="5389173" y="1372528"/>
                  </a:lnTo>
                  <a:lnTo>
                    <a:pt x="5373433" y="1395793"/>
                  </a:lnTo>
                  <a:lnTo>
                    <a:pt x="5350168" y="1411533"/>
                  </a:lnTo>
                  <a:lnTo>
                    <a:pt x="5321808" y="1417320"/>
                  </a:lnTo>
                  <a:lnTo>
                    <a:pt x="73147" y="1417320"/>
                  </a:lnTo>
                  <a:lnTo>
                    <a:pt x="44789" y="1411533"/>
                  </a:lnTo>
                  <a:lnTo>
                    <a:pt x="21525" y="1395793"/>
                  </a:lnTo>
                  <a:lnTo>
                    <a:pt x="5786" y="1372528"/>
                  </a:lnTo>
                  <a:lnTo>
                    <a:pt x="0" y="1344167"/>
                  </a:lnTo>
                  <a:lnTo>
                    <a:pt x="0" y="73151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1" name="object 11"/>
          <p:cNvSpPr txBox="1"/>
          <p:nvPr/>
        </p:nvSpPr>
        <p:spPr>
          <a:xfrm>
            <a:off x="6479540" y="1964207"/>
            <a:ext cx="2011680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Linked</a:t>
            </a:r>
            <a:r>
              <a:rPr dirty="0" sz="1600" spc="-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Menus</a:t>
            </a:r>
            <a:r>
              <a:rPr dirty="0" sz="1600" spc="-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&amp;</a:t>
            </a:r>
            <a:r>
              <a:rPr dirty="0" sz="1600" spc="-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spc="-20" b="1">
                <a:solidFill>
                  <a:srgbClr val="FFFFFF"/>
                </a:solidFill>
                <a:latin typeface="Arial"/>
                <a:cs typeface="Arial"/>
              </a:rPr>
              <a:t>Info</a:t>
            </a:r>
            <a:endParaRPr sz="16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479540" y="2404059"/>
            <a:ext cx="4744085" cy="520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Tap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place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to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see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short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description;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linked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PDF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(photographed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menus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etc.)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opens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for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full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details.</a:t>
            </a:r>
            <a:endParaRPr sz="125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542290" y="3376930"/>
            <a:ext cx="5407660" cy="1430020"/>
            <a:chOff x="542290" y="3376930"/>
            <a:chExt cx="5407660" cy="1430020"/>
          </a:xfrm>
        </p:grpSpPr>
        <p:sp>
          <p:nvSpPr>
            <p:cNvPr id="14" name="object 14"/>
            <p:cNvSpPr/>
            <p:nvPr/>
          </p:nvSpPr>
          <p:spPr>
            <a:xfrm>
              <a:off x="548639" y="33832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60" h="1417320">
                  <a:moveTo>
                    <a:pt x="5321808" y="0"/>
                  </a:moveTo>
                  <a:lnTo>
                    <a:pt x="73147" y="0"/>
                  </a:lnTo>
                  <a:lnTo>
                    <a:pt x="44789" y="5786"/>
                  </a:lnTo>
                  <a:lnTo>
                    <a:pt x="21525" y="21526"/>
                  </a:lnTo>
                  <a:lnTo>
                    <a:pt x="5786" y="44791"/>
                  </a:lnTo>
                  <a:lnTo>
                    <a:pt x="0" y="73151"/>
                  </a:lnTo>
                  <a:lnTo>
                    <a:pt x="0" y="1344167"/>
                  </a:lnTo>
                  <a:lnTo>
                    <a:pt x="5786" y="1372528"/>
                  </a:lnTo>
                  <a:lnTo>
                    <a:pt x="21525" y="1395793"/>
                  </a:lnTo>
                  <a:lnTo>
                    <a:pt x="44789" y="1411533"/>
                  </a:lnTo>
                  <a:lnTo>
                    <a:pt x="73147" y="1417320"/>
                  </a:lnTo>
                  <a:lnTo>
                    <a:pt x="5321808" y="1417320"/>
                  </a:lnTo>
                  <a:lnTo>
                    <a:pt x="5350168" y="1411533"/>
                  </a:lnTo>
                  <a:lnTo>
                    <a:pt x="5373433" y="1395793"/>
                  </a:lnTo>
                  <a:lnTo>
                    <a:pt x="5389173" y="1372528"/>
                  </a:lnTo>
                  <a:lnTo>
                    <a:pt x="5394960" y="1344167"/>
                  </a:lnTo>
                  <a:lnTo>
                    <a:pt x="5394960" y="73151"/>
                  </a:lnTo>
                  <a:lnTo>
                    <a:pt x="5389173" y="44791"/>
                  </a:lnTo>
                  <a:lnTo>
                    <a:pt x="5373433" y="21526"/>
                  </a:lnTo>
                  <a:lnTo>
                    <a:pt x="5350168" y="5786"/>
                  </a:lnTo>
                  <a:lnTo>
                    <a:pt x="5321808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548639" y="33832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60" h="1417320">
                  <a:moveTo>
                    <a:pt x="0" y="73151"/>
                  </a:moveTo>
                  <a:lnTo>
                    <a:pt x="5786" y="44791"/>
                  </a:lnTo>
                  <a:lnTo>
                    <a:pt x="21525" y="21526"/>
                  </a:lnTo>
                  <a:lnTo>
                    <a:pt x="44789" y="5786"/>
                  </a:lnTo>
                  <a:lnTo>
                    <a:pt x="73147" y="0"/>
                  </a:lnTo>
                  <a:lnTo>
                    <a:pt x="5321808" y="0"/>
                  </a:lnTo>
                  <a:lnTo>
                    <a:pt x="5350168" y="5786"/>
                  </a:lnTo>
                  <a:lnTo>
                    <a:pt x="5373433" y="21526"/>
                  </a:lnTo>
                  <a:lnTo>
                    <a:pt x="5389173" y="44791"/>
                  </a:lnTo>
                  <a:lnTo>
                    <a:pt x="5394960" y="73151"/>
                  </a:lnTo>
                  <a:lnTo>
                    <a:pt x="5394960" y="1344167"/>
                  </a:lnTo>
                  <a:lnTo>
                    <a:pt x="5389173" y="1372528"/>
                  </a:lnTo>
                  <a:lnTo>
                    <a:pt x="5373433" y="1395793"/>
                  </a:lnTo>
                  <a:lnTo>
                    <a:pt x="5350168" y="1411533"/>
                  </a:lnTo>
                  <a:lnTo>
                    <a:pt x="5321808" y="1417320"/>
                  </a:lnTo>
                  <a:lnTo>
                    <a:pt x="73147" y="1417320"/>
                  </a:lnTo>
                  <a:lnTo>
                    <a:pt x="44789" y="1411533"/>
                  </a:lnTo>
                  <a:lnTo>
                    <a:pt x="21525" y="1395793"/>
                  </a:lnTo>
                  <a:lnTo>
                    <a:pt x="5786" y="1372528"/>
                  </a:lnTo>
                  <a:lnTo>
                    <a:pt x="0" y="1344167"/>
                  </a:lnTo>
                  <a:lnTo>
                    <a:pt x="0" y="73151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764540" y="3564407"/>
            <a:ext cx="1311910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Find</a:t>
            </a:r>
            <a:r>
              <a:rPr dirty="0" sz="1600" spc="-1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600" spc="-1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spc="-20" b="1">
                <a:solidFill>
                  <a:srgbClr val="FFFFFF"/>
                </a:solidFill>
                <a:latin typeface="Arial"/>
                <a:cs typeface="Arial"/>
              </a:rPr>
              <a:t>Path</a:t>
            </a:r>
            <a:endParaRPr sz="16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764540" y="4004259"/>
            <a:ext cx="4747260" cy="520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Uses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the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user's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live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location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to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calculate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and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show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the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best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route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to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any</a:t>
            </a:r>
            <a:r>
              <a:rPr dirty="0" sz="1250" spc="-4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selected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place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on</a:t>
            </a:r>
            <a:r>
              <a:rPr dirty="0" sz="1250" spc="-4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campus.</a:t>
            </a:r>
            <a:endParaRPr sz="125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6257290" y="3376930"/>
            <a:ext cx="5407660" cy="1430020"/>
            <a:chOff x="6257290" y="3376930"/>
            <a:chExt cx="5407660" cy="1430020"/>
          </a:xfrm>
        </p:grpSpPr>
        <p:sp>
          <p:nvSpPr>
            <p:cNvPr id="19" name="object 19"/>
            <p:cNvSpPr/>
            <p:nvPr/>
          </p:nvSpPr>
          <p:spPr>
            <a:xfrm>
              <a:off x="6263640" y="33832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59" h="1417320">
                  <a:moveTo>
                    <a:pt x="5321808" y="0"/>
                  </a:moveTo>
                  <a:lnTo>
                    <a:pt x="73147" y="0"/>
                  </a:lnTo>
                  <a:lnTo>
                    <a:pt x="44789" y="5786"/>
                  </a:lnTo>
                  <a:lnTo>
                    <a:pt x="21525" y="21526"/>
                  </a:lnTo>
                  <a:lnTo>
                    <a:pt x="5786" y="44791"/>
                  </a:lnTo>
                  <a:lnTo>
                    <a:pt x="0" y="73151"/>
                  </a:lnTo>
                  <a:lnTo>
                    <a:pt x="0" y="1344167"/>
                  </a:lnTo>
                  <a:lnTo>
                    <a:pt x="5786" y="1372528"/>
                  </a:lnTo>
                  <a:lnTo>
                    <a:pt x="21525" y="1395793"/>
                  </a:lnTo>
                  <a:lnTo>
                    <a:pt x="44789" y="1411533"/>
                  </a:lnTo>
                  <a:lnTo>
                    <a:pt x="73147" y="1417320"/>
                  </a:lnTo>
                  <a:lnTo>
                    <a:pt x="5321808" y="1417320"/>
                  </a:lnTo>
                  <a:lnTo>
                    <a:pt x="5350168" y="1411533"/>
                  </a:lnTo>
                  <a:lnTo>
                    <a:pt x="5373433" y="1395793"/>
                  </a:lnTo>
                  <a:lnTo>
                    <a:pt x="5389173" y="1372528"/>
                  </a:lnTo>
                  <a:lnTo>
                    <a:pt x="5394960" y="1344167"/>
                  </a:lnTo>
                  <a:lnTo>
                    <a:pt x="5394960" y="73151"/>
                  </a:lnTo>
                  <a:lnTo>
                    <a:pt x="5389173" y="44791"/>
                  </a:lnTo>
                  <a:lnTo>
                    <a:pt x="5373433" y="21526"/>
                  </a:lnTo>
                  <a:lnTo>
                    <a:pt x="5350168" y="5786"/>
                  </a:lnTo>
                  <a:lnTo>
                    <a:pt x="5321808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0" name="object 20"/>
            <p:cNvSpPr/>
            <p:nvPr/>
          </p:nvSpPr>
          <p:spPr>
            <a:xfrm>
              <a:off x="6263640" y="33832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59" h="1417320">
                  <a:moveTo>
                    <a:pt x="0" y="73151"/>
                  </a:moveTo>
                  <a:lnTo>
                    <a:pt x="5786" y="44791"/>
                  </a:lnTo>
                  <a:lnTo>
                    <a:pt x="21525" y="21526"/>
                  </a:lnTo>
                  <a:lnTo>
                    <a:pt x="44789" y="5786"/>
                  </a:lnTo>
                  <a:lnTo>
                    <a:pt x="73147" y="0"/>
                  </a:lnTo>
                  <a:lnTo>
                    <a:pt x="5321808" y="0"/>
                  </a:lnTo>
                  <a:lnTo>
                    <a:pt x="5350168" y="5786"/>
                  </a:lnTo>
                  <a:lnTo>
                    <a:pt x="5373433" y="21526"/>
                  </a:lnTo>
                  <a:lnTo>
                    <a:pt x="5389173" y="44791"/>
                  </a:lnTo>
                  <a:lnTo>
                    <a:pt x="5394960" y="73151"/>
                  </a:lnTo>
                  <a:lnTo>
                    <a:pt x="5394960" y="1344167"/>
                  </a:lnTo>
                  <a:lnTo>
                    <a:pt x="5389173" y="1372528"/>
                  </a:lnTo>
                  <a:lnTo>
                    <a:pt x="5373433" y="1395793"/>
                  </a:lnTo>
                  <a:lnTo>
                    <a:pt x="5350168" y="1411533"/>
                  </a:lnTo>
                  <a:lnTo>
                    <a:pt x="5321808" y="1417320"/>
                  </a:lnTo>
                  <a:lnTo>
                    <a:pt x="73147" y="1417320"/>
                  </a:lnTo>
                  <a:lnTo>
                    <a:pt x="44789" y="1411533"/>
                  </a:lnTo>
                  <a:lnTo>
                    <a:pt x="21525" y="1395793"/>
                  </a:lnTo>
                  <a:lnTo>
                    <a:pt x="5786" y="1372528"/>
                  </a:lnTo>
                  <a:lnTo>
                    <a:pt x="0" y="1344167"/>
                  </a:lnTo>
                  <a:lnTo>
                    <a:pt x="0" y="73151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1" name="object 21"/>
          <p:cNvSpPr txBox="1"/>
          <p:nvPr/>
        </p:nvSpPr>
        <p:spPr>
          <a:xfrm>
            <a:off x="6479540" y="3564407"/>
            <a:ext cx="2045970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Emergency</a:t>
            </a:r>
            <a:r>
              <a:rPr dirty="0" sz="1600" spc="-2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spc="-10" b="1">
                <a:solidFill>
                  <a:srgbClr val="FFFFFF"/>
                </a:solidFill>
                <a:latin typeface="Arial"/>
                <a:cs typeface="Arial"/>
              </a:rPr>
              <a:t>Contacts</a:t>
            </a:r>
            <a:endParaRPr sz="1600">
              <a:latin typeface="Arial"/>
              <a:cs typeface="Arial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479540" y="4004259"/>
            <a:ext cx="4903470" cy="520700"/>
          </a:xfrm>
          <a:prstGeom prst="rect">
            <a:avLst/>
          </a:prstGeom>
        </p:spPr>
        <p:txBody>
          <a:bodyPr wrap="square" lIns="0" tIns="6985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5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One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dedicated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button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for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emergency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numbers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and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Dr.</a:t>
            </a:r>
            <a:r>
              <a:rPr dirty="0" sz="125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Morphy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details</a:t>
            </a:r>
            <a:endParaRPr sz="125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45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—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no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 searching</a:t>
            </a:r>
            <a:r>
              <a:rPr dirty="0" sz="125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required.</a:t>
            </a:r>
            <a:endParaRPr sz="1250">
              <a:latin typeface="Arial"/>
              <a:cs typeface="Arial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542290" y="4977130"/>
            <a:ext cx="5407660" cy="1430020"/>
            <a:chOff x="542290" y="4977130"/>
            <a:chExt cx="5407660" cy="1430020"/>
          </a:xfrm>
        </p:grpSpPr>
        <p:sp>
          <p:nvSpPr>
            <p:cNvPr id="24" name="object 24"/>
            <p:cNvSpPr/>
            <p:nvPr/>
          </p:nvSpPr>
          <p:spPr>
            <a:xfrm>
              <a:off x="548639" y="49834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60" h="1417320">
                  <a:moveTo>
                    <a:pt x="5321808" y="0"/>
                  </a:moveTo>
                  <a:lnTo>
                    <a:pt x="73147" y="0"/>
                  </a:lnTo>
                  <a:lnTo>
                    <a:pt x="44789" y="5786"/>
                  </a:lnTo>
                  <a:lnTo>
                    <a:pt x="21525" y="21526"/>
                  </a:lnTo>
                  <a:lnTo>
                    <a:pt x="5786" y="44791"/>
                  </a:lnTo>
                  <a:lnTo>
                    <a:pt x="0" y="73151"/>
                  </a:lnTo>
                  <a:lnTo>
                    <a:pt x="0" y="1344167"/>
                  </a:lnTo>
                  <a:lnTo>
                    <a:pt x="5786" y="1372528"/>
                  </a:lnTo>
                  <a:lnTo>
                    <a:pt x="21525" y="1395793"/>
                  </a:lnTo>
                  <a:lnTo>
                    <a:pt x="44789" y="1411533"/>
                  </a:lnTo>
                  <a:lnTo>
                    <a:pt x="73147" y="1417320"/>
                  </a:lnTo>
                  <a:lnTo>
                    <a:pt x="5321808" y="1417320"/>
                  </a:lnTo>
                  <a:lnTo>
                    <a:pt x="5350168" y="1411533"/>
                  </a:lnTo>
                  <a:lnTo>
                    <a:pt x="5373433" y="1395793"/>
                  </a:lnTo>
                  <a:lnTo>
                    <a:pt x="5389173" y="1372528"/>
                  </a:lnTo>
                  <a:lnTo>
                    <a:pt x="5394960" y="1344167"/>
                  </a:lnTo>
                  <a:lnTo>
                    <a:pt x="5394960" y="73151"/>
                  </a:lnTo>
                  <a:lnTo>
                    <a:pt x="5389173" y="44791"/>
                  </a:lnTo>
                  <a:lnTo>
                    <a:pt x="5373433" y="21526"/>
                  </a:lnTo>
                  <a:lnTo>
                    <a:pt x="5350168" y="5786"/>
                  </a:lnTo>
                  <a:lnTo>
                    <a:pt x="5321808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5" name="object 25"/>
            <p:cNvSpPr/>
            <p:nvPr/>
          </p:nvSpPr>
          <p:spPr>
            <a:xfrm>
              <a:off x="548639" y="49834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60" h="1417320">
                  <a:moveTo>
                    <a:pt x="0" y="73151"/>
                  </a:moveTo>
                  <a:lnTo>
                    <a:pt x="5786" y="44791"/>
                  </a:lnTo>
                  <a:lnTo>
                    <a:pt x="21525" y="21526"/>
                  </a:lnTo>
                  <a:lnTo>
                    <a:pt x="44789" y="5786"/>
                  </a:lnTo>
                  <a:lnTo>
                    <a:pt x="73147" y="0"/>
                  </a:lnTo>
                  <a:lnTo>
                    <a:pt x="5321808" y="0"/>
                  </a:lnTo>
                  <a:lnTo>
                    <a:pt x="5350168" y="5786"/>
                  </a:lnTo>
                  <a:lnTo>
                    <a:pt x="5373433" y="21526"/>
                  </a:lnTo>
                  <a:lnTo>
                    <a:pt x="5389173" y="44791"/>
                  </a:lnTo>
                  <a:lnTo>
                    <a:pt x="5394960" y="73151"/>
                  </a:lnTo>
                  <a:lnTo>
                    <a:pt x="5394960" y="1344167"/>
                  </a:lnTo>
                  <a:lnTo>
                    <a:pt x="5389173" y="1372528"/>
                  </a:lnTo>
                  <a:lnTo>
                    <a:pt x="5373433" y="1395793"/>
                  </a:lnTo>
                  <a:lnTo>
                    <a:pt x="5350168" y="1411533"/>
                  </a:lnTo>
                  <a:lnTo>
                    <a:pt x="5321808" y="1417320"/>
                  </a:lnTo>
                  <a:lnTo>
                    <a:pt x="73147" y="1417320"/>
                  </a:lnTo>
                  <a:lnTo>
                    <a:pt x="44789" y="1411533"/>
                  </a:lnTo>
                  <a:lnTo>
                    <a:pt x="21525" y="1395793"/>
                  </a:lnTo>
                  <a:lnTo>
                    <a:pt x="5786" y="1372528"/>
                  </a:lnTo>
                  <a:lnTo>
                    <a:pt x="0" y="1344167"/>
                  </a:lnTo>
                  <a:lnTo>
                    <a:pt x="0" y="73151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6" name="object 26"/>
          <p:cNvSpPr txBox="1"/>
          <p:nvPr/>
        </p:nvSpPr>
        <p:spPr>
          <a:xfrm>
            <a:off x="764540" y="5164607"/>
            <a:ext cx="143954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Freshers'</a:t>
            </a:r>
            <a:r>
              <a:rPr dirty="0" sz="1600" spc="-4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spc="-20" b="1">
                <a:solidFill>
                  <a:srgbClr val="FFFFFF"/>
                </a:solidFill>
                <a:latin typeface="Arial"/>
                <a:cs typeface="Arial"/>
              </a:rPr>
              <a:t>Tour</a:t>
            </a:r>
            <a:endParaRPr sz="16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764540" y="5604459"/>
            <a:ext cx="4542155" cy="520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guided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walkthrough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button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that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introduces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new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students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to</a:t>
            </a:r>
            <a:r>
              <a:rPr dirty="0" sz="1250" spc="-3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the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campus,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block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by</a:t>
            </a:r>
            <a:r>
              <a:rPr dirty="0" sz="1250" spc="-4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block.</a:t>
            </a:r>
            <a:endParaRPr sz="125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6257290" y="4977130"/>
            <a:ext cx="5407660" cy="1430020"/>
            <a:chOff x="6257290" y="4977130"/>
            <a:chExt cx="5407660" cy="1430020"/>
          </a:xfrm>
        </p:grpSpPr>
        <p:sp>
          <p:nvSpPr>
            <p:cNvPr id="29" name="object 29"/>
            <p:cNvSpPr/>
            <p:nvPr/>
          </p:nvSpPr>
          <p:spPr>
            <a:xfrm>
              <a:off x="6263640" y="49834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59" h="1417320">
                  <a:moveTo>
                    <a:pt x="5321808" y="0"/>
                  </a:moveTo>
                  <a:lnTo>
                    <a:pt x="73147" y="0"/>
                  </a:lnTo>
                  <a:lnTo>
                    <a:pt x="44789" y="5786"/>
                  </a:lnTo>
                  <a:lnTo>
                    <a:pt x="21525" y="21526"/>
                  </a:lnTo>
                  <a:lnTo>
                    <a:pt x="5786" y="44791"/>
                  </a:lnTo>
                  <a:lnTo>
                    <a:pt x="0" y="73151"/>
                  </a:lnTo>
                  <a:lnTo>
                    <a:pt x="0" y="1344167"/>
                  </a:lnTo>
                  <a:lnTo>
                    <a:pt x="5786" y="1372528"/>
                  </a:lnTo>
                  <a:lnTo>
                    <a:pt x="21525" y="1395793"/>
                  </a:lnTo>
                  <a:lnTo>
                    <a:pt x="44789" y="1411533"/>
                  </a:lnTo>
                  <a:lnTo>
                    <a:pt x="73147" y="1417320"/>
                  </a:lnTo>
                  <a:lnTo>
                    <a:pt x="5321808" y="1417320"/>
                  </a:lnTo>
                  <a:lnTo>
                    <a:pt x="5350168" y="1411533"/>
                  </a:lnTo>
                  <a:lnTo>
                    <a:pt x="5373433" y="1395793"/>
                  </a:lnTo>
                  <a:lnTo>
                    <a:pt x="5389173" y="1372528"/>
                  </a:lnTo>
                  <a:lnTo>
                    <a:pt x="5394960" y="1344167"/>
                  </a:lnTo>
                  <a:lnTo>
                    <a:pt x="5394960" y="73151"/>
                  </a:lnTo>
                  <a:lnTo>
                    <a:pt x="5389173" y="44791"/>
                  </a:lnTo>
                  <a:lnTo>
                    <a:pt x="5373433" y="21526"/>
                  </a:lnTo>
                  <a:lnTo>
                    <a:pt x="5350168" y="5786"/>
                  </a:lnTo>
                  <a:lnTo>
                    <a:pt x="5321808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0" name="object 30"/>
            <p:cNvSpPr/>
            <p:nvPr/>
          </p:nvSpPr>
          <p:spPr>
            <a:xfrm>
              <a:off x="6263640" y="4983480"/>
              <a:ext cx="5394960" cy="1417320"/>
            </a:xfrm>
            <a:custGeom>
              <a:avLst/>
              <a:gdLst/>
              <a:ahLst/>
              <a:cxnLst/>
              <a:rect l="l" t="t" r="r" b="b"/>
              <a:pathLst>
                <a:path w="5394959" h="1417320">
                  <a:moveTo>
                    <a:pt x="0" y="73151"/>
                  </a:moveTo>
                  <a:lnTo>
                    <a:pt x="5786" y="44791"/>
                  </a:lnTo>
                  <a:lnTo>
                    <a:pt x="21525" y="21526"/>
                  </a:lnTo>
                  <a:lnTo>
                    <a:pt x="44789" y="5786"/>
                  </a:lnTo>
                  <a:lnTo>
                    <a:pt x="73147" y="0"/>
                  </a:lnTo>
                  <a:lnTo>
                    <a:pt x="5321808" y="0"/>
                  </a:lnTo>
                  <a:lnTo>
                    <a:pt x="5350168" y="5786"/>
                  </a:lnTo>
                  <a:lnTo>
                    <a:pt x="5373433" y="21526"/>
                  </a:lnTo>
                  <a:lnTo>
                    <a:pt x="5389173" y="44791"/>
                  </a:lnTo>
                  <a:lnTo>
                    <a:pt x="5394960" y="73151"/>
                  </a:lnTo>
                  <a:lnTo>
                    <a:pt x="5394960" y="1344167"/>
                  </a:lnTo>
                  <a:lnTo>
                    <a:pt x="5389173" y="1372528"/>
                  </a:lnTo>
                  <a:lnTo>
                    <a:pt x="5373433" y="1395793"/>
                  </a:lnTo>
                  <a:lnTo>
                    <a:pt x="5350168" y="1411533"/>
                  </a:lnTo>
                  <a:lnTo>
                    <a:pt x="5321808" y="1417320"/>
                  </a:lnTo>
                  <a:lnTo>
                    <a:pt x="73147" y="1417320"/>
                  </a:lnTo>
                  <a:lnTo>
                    <a:pt x="44789" y="1411533"/>
                  </a:lnTo>
                  <a:lnTo>
                    <a:pt x="21525" y="1395793"/>
                  </a:lnTo>
                  <a:lnTo>
                    <a:pt x="5786" y="1372528"/>
                  </a:lnTo>
                  <a:lnTo>
                    <a:pt x="0" y="1344167"/>
                  </a:lnTo>
                  <a:lnTo>
                    <a:pt x="0" y="73151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1" name="object 31"/>
          <p:cNvSpPr txBox="1"/>
          <p:nvPr/>
        </p:nvSpPr>
        <p:spPr>
          <a:xfrm>
            <a:off x="6479540" y="5164607"/>
            <a:ext cx="173037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Light</a:t>
            </a:r>
            <a:r>
              <a:rPr dirty="0" sz="1600" spc="-1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/</a:t>
            </a:r>
            <a:r>
              <a:rPr dirty="0" sz="1600" spc="-1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b="1">
                <a:solidFill>
                  <a:srgbClr val="FFFFFF"/>
                </a:solidFill>
                <a:latin typeface="Arial"/>
                <a:cs typeface="Arial"/>
              </a:rPr>
              <a:t>Dark</a:t>
            </a:r>
            <a:r>
              <a:rPr dirty="0" sz="1600" spc="-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600" spc="-20" b="1">
                <a:solidFill>
                  <a:srgbClr val="FFFFFF"/>
                </a:solidFill>
                <a:latin typeface="Arial"/>
                <a:cs typeface="Arial"/>
              </a:rPr>
              <a:t>Mode</a:t>
            </a:r>
            <a:endParaRPr sz="1600"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6479540" y="5604459"/>
            <a:ext cx="4876800" cy="520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toggle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so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the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map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is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comfortable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to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use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both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indoors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and</a:t>
            </a:r>
            <a:r>
              <a:rPr dirty="0" sz="125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outdoors,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day</a:t>
            </a:r>
            <a:r>
              <a:rPr dirty="0" sz="1250" spc="-2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>
                <a:solidFill>
                  <a:srgbClr val="C8C8CE"/>
                </a:solidFill>
                <a:latin typeface="Arial"/>
                <a:cs typeface="Arial"/>
              </a:rPr>
              <a:t>or</a:t>
            </a:r>
            <a:r>
              <a:rPr dirty="0" sz="1250" spc="-1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250" spc="-10">
                <a:solidFill>
                  <a:srgbClr val="C8C8CE"/>
                </a:solidFill>
                <a:latin typeface="Arial"/>
                <a:cs typeface="Arial"/>
              </a:rPr>
              <a:t>night.</a:t>
            </a:r>
            <a:endParaRPr sz="1250">
              <a:latin typeface="Arial"/>
              <a:cs typeface="Arial"/>
            </a:endParaRPr>
          </a:p>
        </p:txBody>
      </p:sp>
      <p:sp>
        <p:nvSpPr>
          <p:cNvPr id="33" name="object 33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Target</a:t>
            </a:r>
            <a:r>
              <a:rPr dirty="0" spc="-15"/>
              <a:t> </a:t>
            </a:r>
            <a:r>
              <a:rPr dirty="0"/>
              <a:t>Users</a:t>
            </a:r>
            <a:r>
              <a:rPr dirty="0" spc="-10"/>
              <a:t> </a:t>
            </a:r>
            <a:r>
              <a:rPr dirty="0"/>
              <a:t>&amp;</a:t>
            </a:r>
            <a:r>
              <a:rPr dirty="0" spc="-10"/>
              <a:t> </a:t>
            </a:r>
            <a:r>
              <a:rPr dirty="0"/>
              <a:t>How</a:t>
            </a:r>
            <a:r>
              <a:rPr dirty="0" spc="-15"/>
              <a:t> </a:t>
            </a:r>
            <a:r>
              <a:rPr dirty="0"/>
              <a:t>It</a:t>
            </a:r>
            <a:r>
              <a:rPr dirty="0" spc="-10"/>
              <a:t> Works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765541"/>
            <a:ext cx="142303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b="1">
                <a:solidFill>
                  <a:srgbClr val="6C4FDF"/>
                </a:solidFill>
                <a:latin typeface="Arial"/>
                <a:cs typeface="Arial"/>
              </a:rPr>
              <a:t>Target</a:t>
            </a:r>
            <a:r>
              <a:rPr dirty="0" sz="1800" spc="-25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 spc="-10" b="1">
                <a:solidFill>
                  <a:srgbClr val="6C4FDF"/>
                </a:solidFill>
                <a:latin typeface="Arial"/>
                <a:cs typeface="Arial"/>
              </a:rPr>
              <a:t>Users</a:t>
            </a:r>
            <a:endParaRPr sz="18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205220" y="1765541"/>
            <a:ext cx="32385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b="1">
                <a:solidFill>
                  <a:srgbClr val="6C4FDF"/>
                </a:solidFill>
                <a:latin typeface="Arial"/>
                <a:cs typeface="Arial"/>
              </a:rPr>
              <a:t>How</a:t>
            </a:r>
            <a:r>
              <a:rPr dirty="0" sz="1800" spc="-30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6C4FDF"/>
                </a:solidFill>
                <a:latin typeface="Arial"/>
                <a:cs typeface="Arial"/>
              </a:rPr>
              <a:t>a</a:t>
            </a:r>
            <a:r>
              <a:rPr dirty="0" sz="1800" spc="-30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6C4FDF"/>
                </a:solidFill>
                <a:latin typeface="Arial"/>
                <a:cs typeface="Arial"/>
              </a:rPr>
              <a:t>User</a:t>
            </a:r>
            <a:r>
              <a:rPr dirty="0" sz="1800" spc="-30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6C4FDF"/>
                </a:solidFill>
                <a:latin typeface="Arial"/>
                <a:cs typeface="Arial"/>
              </a:rPr>
              <a:t>Moves</a:t>
            </a:r>
            <a:r>
              <a:rPr dirty="0" sz="1800" spc="-30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 b="1">
                <a:solidFill>
                  <a:srgbClr val="6C4FDF"/>
                </a:solidFill>
                <a:latin typeface="Arial"/>
                <a:cs typeface="Arial"/>
              </a:rPr>
              <a:t>Through</a:t>
            </a:r>
            <a:r>
              <a:rPr dirty="0" sz="1800" spc="-25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 spc="-35" b="1">
                <a:solidFill>
                  <a:srgbClr val="6C4FDF"/>
                </a:solidFill>
                <a:latin typeface="Arial"/>
                <a:cs typeface="Arial"/>
              </a:rPr>
              <a:t>It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3176054"/>
            <a:ext cx="5309235" cy="16637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Incoming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freshers,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their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very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first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day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Font typeface="Arial"/>
              <a:buChar char="•"/>
            </a:pPr>
            <a:endParaRPr sz="15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Current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students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who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still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lose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track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blocks/facilities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Font typeface="Arial"/>
              <a:buChar char="•"/>
            </a:pPr>
            <a:endParaRPr sz="15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Parents</a:t>
            </a:r>
            <a:r>
              <a:rPr dirty="0" sz="15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5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guests</a:t>
            </a:r>
            <a:r>
              <a:rPr dirty="0" sz="15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visiting</a:t>
            </a:r>
            <a:r>
              <a:rPr dirty="0" sz="15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during</a:t>
            </a:r>
            <a:r>
              <a:rPr dirty="0" sz="15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events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Font typeface="Arial"/>
              <a:buChar char="•"/>
            </a:pPr>
            <a:endParaRPr sz="15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Hostel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wardens/admin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needing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quick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info</a:t>
            </a:r>
            <a:r>
              <a:rPr dirty="0" sz="15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share</a:t>
            </a:r>
            <a:endParaRPr sz="15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5220" y="2769654"/>
            <a:ext cx="5403215" cy="24765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Open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website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map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loads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pins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visible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Font typeface="Arial"/>
              <a:buChar char="•"/>
            </a:pPr>
            <a:endParaRPr sz="15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Tap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pin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(e.g.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Underbelly)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see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its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short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info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20">
                <a:solidFill>
                  <a:srgbClr val="FFFFFF"/>
                </a:solidFill>
                <a:latin typeface="Arial"/>
                <a:cs typeface="Arial"/>
              </a:rPr>
              <a:t>card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Font typeface="Arial"/>
              <a:buChar char="•"/>
            </a:pPr>
            <a:endParaRPr sz="15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Tap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5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link</a:t>
            </a:r>
            <a:r>
              <a:rPr dirty="0" sz="15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icon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5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open</a:t>
            </a:r>
            <a:r>
              <a:rPr dirty="0" sz="15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50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menu/details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PDF</a:t>
            </a:r>
            <a:endParaRPr sz="15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75"/>
              </a:spcBef>
              <a:buClr>
                <a:srgbClr val="FFFFFF"/>
              </a:buClr>
              <a:buFont typeface="Arial"/>
              <a:buChar char="•"/>
            </a:pPr>
            <a:endParaRPr sz="15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tap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"Find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Path"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get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directions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from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current</a:t>
            </a:r>
            <a:r>
              <a:rPr dirty="0" sz="15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endParaRPr sz="1500">
              <a:latin typeface="Arial"/>
              <a:cs typeface="Arial"/>
            </a:endParaRPr>
          </a:p>
          <a:p>
            <a:pPr marL="355600" marR="50165" indent="-342900">
              <a:lnSpc>
                <a:spcPct val="150000"/>
              </a:lnSpc>
              <a:spcBef>
                <a:spcPts val="1000"/>
              </a:spcBef>
              <a:buChar char="•"/>
              <a:tabLst>
                <a:tab pos="355600" algn="l"/>
              </a:tabLst>
            </a:pP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quick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buttons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Emergency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Contacts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5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5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Freshers' </a:t>
            </a:r>
            <a:r>
              <a:rPr dirty="0" sz="1500">
                <a:solidFill>
                  <a:srgbClr val="FFFFFF"/>
                </a:solidFill>
                <a:latin typeface="Arial"/>
                <a:cs typeface="Arial"/>
              </a:rPr>
              <a:t>Tour</a:t>
            </a:r>
            <a:r>
              <a:rPr dirty="0" sz="15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500" spc="-10">
                <a:solidFill>
                  <a:srgbClr val="FFFFFF"/>
                </a:solidFill>
                <a:latin typeface="Arial"/>
                <a:cs typeface="Arial"/>
              </a:rPr>
              <a:t>anytime</a:t>
            </a:r>
            <a:endParaRPr sz="15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Technical</a:t>
            </a:r>
            <a:r>
              <a:rPr dirty="0" spc="-20"/>
              <a:t> </a:t>
            </a:r>
            <a:r>
              <a:rPr dirty="0" spc="-10"/>
              <a:t>Strategy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32687"/>
            <a:ext cx="190055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Technologies</a:t>
            </a:r>
            <a:r>
              <a:rPr dirty="0" sz="1600" spc="-5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/</a:t>
            </a:r>
            <a:r>
              <a:rPr dirty="0" sz="1600" spc="-5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 spc="-10">
                <a:solidFill>
                  <a:srgbClr val="6C4FDF"/>
                </a:solidFill>
                <a:latin typeface="Arial"/>
                <a:cs typeface="Arial"/>
              </a:rPr>
              <a:t>Tools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2269274"/>
            <a:ext cx="91376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 spc="-10" b="1">
                <a:solidFill>
                  <a:srgbClr val="6C4FDF"/>
                </a:solidFill>
                <a:latin typeface="Arial"/>
                <a:cs typeface="Arial"/>
              </a:rPr>
              <a:t>Frontend:</a:t>
            </a:r>
            <a:endParaRPr sz="15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004820" y="2240064"/>
            <a:ext cx="7266940" cy="2463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HTML,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CSS,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JavaScript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(responsive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layout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phones,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since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freshers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mostly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mobile)</a:t>
            </a:r>
            <a:endParaRPr sz="145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35940" y="3046514"/>
            <a:ext cx="150622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 b="1">
                <a:solidFill>
                  <a:srgbClr val="6C4FDF"/>
                </a:solidFill>
                <a:latin typeface="Arial"/>
                <a:cs typeface="Arial"/>
              </a:rPr>
              <a:t>Map</a:t>
            </a:r>
            <a:r>
              <a:rPr dirty="0" sz="1500" spc="-15" b="1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500" b="1">
                <a:solidFill>
                  <a:srgbClr val="6C4FDF"/>
                </a:solidFill>
                <a:latin typeface="Arial"/>
                <a:cs typeface="Arial"/>
              </a:rPr>
              <a:t>&amp;</a:t>
            </a:r>
            <a:r>
              <a:rPr dirty="0" sz="1500" spc="-10" b="1">
                <a:solidFill>
                  <a:srgbClr val="6C4FDF"/>
                </a:solidFill>
                <a:latin typeface="Arial"/>
                <a:cs typeface="Arial"/>
              </a:rPr>
              <a:t> Location:</a:t>
            </a:r>
            <a:endParaRPr sz="15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004820" y="3017304"/>
            <a:ext cx="7910830" cy="2463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Leaflet.js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/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Google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Maps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API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interactive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map,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browser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Geolocation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API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"Find</a:t>
            </a:r>
            <a:r>
              <a:rPr dirty="0" sz="1450" spc="-2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45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Path"</a:t>
            </a:r>
            <a:endParaRPr sz="145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35940" y="3823754"/>
            <a:ext cx="88265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 spc="-10" b="1">
                <a:solidFill>
                  <a:srgbClr val="6C4FDF"/>
                </a:solidFill>
                <a:latin typeface="Arial"/>
                <a:cs typeface="Arial"/>
              </a:rPr>
              <a:t>Backend:</a:t>
            </a:r>
            <a:endParaRPr sz="15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3004820" y="3794544"/>
            <a:ext cx="4742180" cy="2463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Node.js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Express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serve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data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PDF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links</a:t>
            </a:r>
            <a:endParaRPr sz="145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535940" y="4600994"/>
            <a:ext cx="935355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 spc="-10" b="1">
                <a:solidFill>
                  <a:srgbClr val="6C4FDF"/>
                </a:solidFill>
                <a:latin typeface="Arial"/>
                <a:cs typeface="Arial"/>
              </a:rPr>
              <a:t>Database:</a:t>
            </a:r>
            <a:endParaRPr sz="15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3004820" y="4361853"/>
            <a:ext cx="8127365" cy="600075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30000"/>
              </a:lnSpc>
              <a:spcBef>
                <a:spcPts val="100"/>
              </a:spcBef>
            </a:pP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Firebase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/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MongoDB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store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place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details,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PDF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links,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contact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numbers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so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they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updated easily</a:t>
            </a:r>
            <a:endParaRPr sz="145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35940" y="5378234"/>
            <a:ext cx="797560" cy="2540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500" spc="-10" b="1">
                <a:solidFill>
                  <a:srgbClr val="6C4FDF"/>
                </a:solidFill>
                <a:latin typeface="Arial"/>
                <a:cs typeface="Arial"/>
              </a:rPr>
              <a:t>Hosting:</a:t>
            </a:r>
            <a:endParaRPr sz="15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004820" y="5349023"/>
            <a:ext cx="8302625" cy="246379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Vercel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/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Netlify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website,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PDFs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stored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cloud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storage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(Google</a:t>
            </a:r>
            <a:r>
              <a:rPr dirty="0" sz="145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Drive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>
                <a:solidFill>
                  <a:srgbClr val="FFFFFF"/>
                </a:solidFill>
                <a:latin typeface="Arial"/>
                <a:cs typeface="Arial"/>
              </a:rPr>
              <a:t>Firebase</a:t>
            </a:r>
            <a:r>
              <a:rPr dirty="0" sz="145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50" spc="-10">
                <a:solidFill>
                  <a:srgbClr val="FFFFFF"/>
                </a:solidFill>
                <a:latin typeface="Arial"/>
                <a:cs typeface="Arial"/>
              </a:rPr>
              <a:t>Storage)</a:t>
            </a:r>
            <a:endParaRPr sz="1450">
              <a:latin typeface="Arial"/>
              <a:cs typeface="Arial"/>
            </a:endParaRPr>
          </a:p>
        </p:txBody>
      </p:sp>
      <p:sp>
        <p:nvSpPr>
          <p:cNvPr id="14" name="object 1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Technical</a:t>
            </a:r>
            <a:r>
              <a:rPr dirty="0" spc="-20"/>
              <a:t> </a:t>
            </a:r>
            <a:r>
              <a:rPr dirty="0" spc="-10"/>
              <a:t>Strategy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32687"/>
            <a:ext cx="220408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Implementation</a:t>
            </a:r>
            <a:r>
              <a:rPr dirty="0" sz="1600" spc="-75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 spc="-10">
                <a:solidFill>
                  <a:srgbClr val="6C4FDF"/>
                </a:solidFill>
                <a:latin typeface="Arial"/>
                <a:cs typeface="Arial"/>
              </a:rPr>
              <a:t>Process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548640" y="2377439"/>
            <a:ext cx="1965960" cy="822960"/>
          </a:xfrm>
          <a:custGeom>
            <a:avLst/>
            <a:gdLst/>
            <a:ahLst/>
            <a:cxnLst/>
            <a:rect l="l" t="t" r="r" b="b"/>
            <a:pathLst>
              <a:path w="1965960" h="822960">
                <a:moveTo>
                  <a:pt x="1911095" y="0"/>
                </a:moveTo>
                <a:lnTo>
                  <a:pt x="54866" y="0"/>
                </a:lnTo>
                <a:lnTo>
                  <a:pt x="33595" y="4339"/>
                </a:lnTo>
                <a:lnTo>
                  <a:pt x="16146" y="16144"/>
                </a:lnTo>
                <a:lnTo>
                  <a:pt x="4340" y="33593"/>
                </a:lnTo>
                <a:lnTo>
                  <a:pt x="0" y="54864"/>
                </a:lnTo>
                <a:lnTo>
                  <a:pt x="0" y="768096"/>
                </a:lnTo>
                <a:lnTo>
                  <a:pt x="4340" y="789366"/>
                </a:lnTo>
                <a:lnTo>
                  <a:pt x="16146" y="806815"/>
                </a:lnTo>
                <a:lnTo>
                  <a:pt x="33595" y="818620"/>
                </a:lnTo>
                <a:lnTo>
                  <a:pt x="54866" y="822960"/>
                </a:lnTo>
                <a:lnTo>
                  <a:pt x="1911095" y="822960"/>
                </a:lnTo>
                <a:lnTo>
                  <a:pt x="1932366" y="818620"/>
                </a:lnTo>
                <a:lnTo>
                  <a:pt x="1949815" y="806815"/>
                </a:lnTo>
                <a:lnTo>
                  <a:pt x="1961620" y="789366"/>
                </a:lnTo>
                <a:lnTo>
                  <a:pt x="1965960" y="768096"/>
                </a:lnTo>
                <a:lnTo>
                  <a:pt x="1965960" y="54864"/>
                </a:lnTo>
                <a:lnTo>
                  <a:pt x="1961620" y="33593"/>
                </a:lnTo>
                <a:lnTo>
                  <a:pt x="1949815" y="16144"/>
                </a:lnTo>
                <a:lnTo>
                  <a:pt x="1932366" y="4339"/>
                </a:lnTo>
                <a:lnTo>
                  <a:pt x="1911095" y="0"/>
                </a:lnTo>
                <a:close/>
              </a:path>
            </a:pathLst>
          </a:custGeom>
          <a:solidFill>
            <a:srgbClr val="6C4FD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5" name="object 5"/>
          <p:cNvSpPr txBox="1"/>
          <p:nvPr/>
        </p:nvSpPr>
        <p:spPr>
          <a:xfrm>
            <a:off x="1015224" y="2665780"/>
            <a:ext cx="1033144" cy="238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Collect</a:t>
            </a:r>
            <a:r>
              <a:rPr dirty="0" sz="1400" spc="-1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20" b="1">
                <a:solidFill>
                  <a:srgbClr val="FFFFFF"/>
                </a:solidFill>
                <a:latin typeface="Arial"/>
                <a:cs typeface="Arial"/>
              </a:rPr>
              <a:t>data</a:t>
            </a:r>
            <a:endParaRPr sz="14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515796" y="2634221"/>
            <a:ext cx="2540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0" b="1">
                <a:solidFill>
                  <a:srgbClr val="6C4FDF"/>
                </a:solidFill>
                <a:latin typeface="Arial"/>
                <a:cs typeface="Arial"/>
              </a:rPr>
              <a:t>→</a:t>
            </a:r>
            <a:endParaRPr sz="1800">
              <a:latin typeface="Arial"/>
              <a:cs typeface="Arial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2770632" y="2377439"/>
            <a:ext cx="1965960" cy="822960"/>
          </a:xfrm>
          <a:custGeom>
            <a:avLst/>
            <a:gdLst/>
            <a:ahLst/>
            <a:cxnLst/>
            <a:rect l="l" t="t" r="r" b="b"/>
            <a:pathLst>
              <a:path w="1965960" h="822960">
                <a:moveTo>
                  <a:pt x="1911095" y="0"/>
                </a:moveTo>
                <a:lnTo>
                  <a:pt x="54866" y="0"/>
                </a:lnTo>
                <a:lnTo>
                  <a:pt x="33595" y="4339"/>
                </a:lnTo>
                <a:lnTo>
                  <a:pt x="16146" y="16144"/>
                </a:lnTo>
                <a:lnTo>
                  <a:pt x="4340" y="33593"/>
                </a:lnTo>
                <a:lnTo>
                  <a:pt x="0" y="54864"/>
                </a:lnTo>
                <a:lnTo>
                  <a:pt x="0" y="768096"/>
                </a:lnTo>
                <a:lnTo>
                  <a:pt x="4340" y="789366"/>
                </a:lnTo>
                <a:lnTo>
                  <a:pt x="16146" y="806815"/>
                </a:lnTo>
                <a:lnTo>
                  <a:pt x="33595" y="818620"/>
                </a:lnTo>
                <a:lnTo>
                  <a:pt x="54866" y="822960"/>
                </a:lnTo>
                <a:lnTo>
                  <a:pt x="1911095" y="822960"/>
                </a:lnTo>
                <a:lnTo>
                  <a:pt x="1932366" y="818620"/>
                </a:lnTo>
                <a:lnTo>
                  <a:pt x="1949815" y="806815"/>
                </a:lnTo>
                <a:lnTo>
                  <a:pt x="1961620" y="789366"/>
                </a:lnTo>
                <a:lnTo>
                  <a:pt x="1965960" y="768096"/>
                </a:lnTo>
                <a:lnTo>
                  <a:pt x="1965960" y="54864"/>
                </a:lnTo>
                <a:lnTo>
                  <a:pt x="1961620" y="33593"/>
                </a:lnTo>
                <a:lnTo>
                  <a:pt x="1949815" y="16144"/>
                </a:lnTo>
                <a:lnTo>
                  <a:pt x="1932366" y="4339"/>
                </a:lnTo>
                <a:lnTo>
                  <a:pt x="1911095" y="0"/>
                </a:lnTo>
                <a:close/>
              </a:path>
            </a:pathLst>
          </a:custGeom>
          <a:solidFill>
            <a:srgbClr val="6C4FD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2" name="object 12"/>
          <p:cNvSpPr txBox="1"/>
          <p:nvPr/>
        </p:nvSpPr>
        <p:spPr>
          <a:xfrm>
            <a:off x="3197804" y="2665780"/>
            <a:ext cx="1111250" cy="238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Build</a:t>
            </a:r>
            <a:r>
              <a:rPr dirty="0" sz="1400" spc="-2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map</a:t>
            </a:r>
            <a:r>
              <a:rPr dirty="0" sz="1400" spc="-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25" b="1">
                <a:solidFill>
                  <a:srgbClr val="FFFFFF"/>
                </a:solidFill>
                <a:latin typeface="Arial"/>
                <a:cs typeface="Arial"/>
              </a:rPr>
              <a:t>UI</a:t>
            </a:r>
            <a:endParaRPr sz="14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737788" y="2634221"/>
            <a:ext cx="2540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0" b="1">
                <a:solidFill>
                  <a:srgbClr val="6C4FDF"/>
                </a:solidFill>
                <a:latin typeface="Arial"/>
                <a:cs typeface="Arial"/>
              </a:rPr>
              <a:t>→</a:t>
            </a:r>
            <a:endParaRPr sz="1800">
              <a:latin typeface="Arial"/>
              <a:cs typeface="Arial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4992623" y="2377439"/>
            <a:ext cx="1965960" cy="822960"/>
          </a:xfrm>
          <a:custGeom>
            <a:avLst/>
            <a:gdLst/>
            <a:ahLst/>
            <a:cxnLst/>
            <a:rect l="l" t="t" r="r" b="b"/>
            <a:pathLst>
              <a:path w="1965959" h="822960">
                <a:moveTo>
                  <a:pt x="1911095" y="0"/>
                </a:moveTo>
                <a:lnTo>
                  <a:pt x="54866" y="0"/>
                </a:lnTo>
                <a:lnTo>
                  <a:pt x="33595" y="4339"/>
                </a:lnTo>
                <a:lnTo>
                  <a:pt x="16146" y="16144"/>
                </a:lnTo>
                <a:lnTo>
                  <a:pt x="4340" y="33593"/>
                </a:lnTo>
                <a:lnTo>
                  <a:pt x="0" y="54864"/>
                </a:lnTo>
                <a:lnTo>
                  <a:pt x="0" y="768096"/>
                </a:lnTo>
                <a:lnTo>
                  <a:pt x="4340" y="789366"/>
                </a:lnTo>
                <a:lnTo>
                  <a:pt x="16146" y="806815"/>
                </a:lnTo>
                <a:lnTo>
                  <a:pt x="33595" y="818620"/>
                </a:lnTo>
                <a:lnTo>
                  <a:pt x="54866" y="822960"/>
                </a:lnTo>
                <a:lnTo>
                  <a:pt x="1911095" y="822960"/>
                </a:lnTo>
                <a:lnTo>
                  <a:pt x="1932366" y="818620"/>
                </a:lnTo>
                <a:lnTo>
                  <a:pt x="1949815" y="806815"/>
                </a:lnTo>
                <a:lnTo>
                  <a:pt x="1961620" y="789366"/>
                </a:lnTo>
                <a:lnTo>
                  <a:pt x="1965960" y="768096"/>
                </a:lnTo>
                <a:lnTo>
                  <a:pt x="1965960" y="54864"/>
                </a:lnTo>
                <a:lnTo>
                  <a:pt x="1961620" y="33593"/>
                </a:lnTo>
                <a:lnTo>
                  <a:pt x="1949815" y="16144"/>
                </a:lnTo>
                <a:lnTo>
                  <a:pt x="1932366" y="4339"/>
                </a:lnTo>
                <a:lnTo>
                  <a:pt x="1911095" y="0"/>
                </a:lnTo>
                <a:close/>
              </a:path>
            </a:pathLst>
          </a:custGeom>
          <a:solidFill>
            <a:srgbClr val="6C4FD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19" name="object 19"/>
          <p:cNvSpPr txBox="1"/>
          <p:nvPr/>
        </p:nvSpPr>
        <p:spPr>
          <a:xfrm>
            <a:off x="5459468" y="2665780"/>
            <a:ext cx="1032510" cy="238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Add</a:t>
            </a:r>
            <a:r>
              <a:rPr dirty="0" sz="1400" spc="-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 b="1">
                <a:solidFill>
                  <a:srgbClr val="FFFFFF"/>
                </a:solidFill>
                <a:latin typeface="Arial"/>
                <a:cs typeface="Arial"/>
              </a:rPr>
              <a:t>routing</a:t>
            </a:r>
            <a:endParaRPr sz="14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6959780" y="2634221"/>
            <a:ext cx="2540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0" b="1">
                <a:solidFill>
                  <a:srgbClr val="6C4FDF"/>
                </a:solidFill>
                <a:latin typeface="Arial"/>
                <a:cs typeface="Arial"/>
              </a:rPr>
              <a:t>→</a:t>
            </a:r>
            <a:endParaRPr sz="1800">
              <a:latin typeface="Arial"/>
              <a:cs typeface="Arial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214616" y="2377439"/>
            <a:ext cx="1965960" cy="822960"/>
          </a:xfrm>
          <a:custGeom>
            <a:avLst/>
            <a:gdLst/>
            <a:ahLst/>
            <a:cxnLst/>
            <a:rect l="l" t="t" r="r" b="b"/>
            <a:pathLst>
              <a:path w="1965959" h="822960">
                <a:moveTo>
                  <a:pt x="1911095" y="0"/>
                </a:moveTo>
                <a:lnTo>
                  <a:pt x="54866" y="0"/>
                </a:lnTo>
                <a:lnTo>
                  <a:pt x="33595" y="4339"/>
                </a:lnTo>
                <a:lnTo>
                  <a:pt x="16146" y="16144"/>
                </a:lnTo>
                <a:lnTo>
                  <a:pt x="4340" y="33593"/>
                </a:lnTo>
                <a:lnTo>
                  <a:pt x="0" y="54864"/>
                </a:lnTo>
                <a:lnTo>
                  <a:pt x="0" y="768096"/>
                </a:lnTo>
                <a:lnTo>
                  <a:pt x="4340" y="789366"/>
                </a:lnTo>
                <a:lnTo>
                  <a:pt x="16146" y="806815"/>
                </a:lnTo>
                <a:lnTo>
                  <a:pt x="33595" y="818620"/>
                </a:lnTo>
                <a:lnTo>
                  <a:pt x="54866" y="822960"/>
                </a:lnTo>
                <a:lnTo>
                  <a:pt x="1911095" y="822960"/>
                </a:lnTo>
                <a:lnTo>
                  <a:pt x="1932366" y="818620"/>
                </a:lnTo>
                <a:lnTo>
                  <a:pt x="1949815" y="806815"/>
                </a:lnTo>
                <a:lnTo>
                  <a:pt x="1961620" y="789366"/>
                </a:lnTo>
                <a:lnTo>
                  <a:pt x="1965960" y="768096"/>
                </a:lnTo>
                <a:lnTo>
                  <a:pt x="1965960" y="54864"/>
                </a:lnTo>
                <a:lnTo>
                  <a:pt x="1961620" y="33593"/>
                </a:lnTo>
                <a:lnTo>
                  <a:pt x="1949815" y="16144"/>
                </a:lnTo>
                <a:lnTo>
                  <a:pt x="1932366" y="4339"/>
                </a:lnTo>
                <a:lnTo>
                  <a:pt x="1911095" y="0"/>
                </a:lnTo>
                <a:close/>
              </a:path>
            </a:pathLst>
          </a:custGeom>
          <a:solidFill>
            <a:srgbClr val="6C4FD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26" name="object 26"/>
          <p:cNvSpPr txBox="1"/>
          <p:nvPr/>
        </p:nvSpPr>
        <p:spPr>
          <a:xfrm>
            <a:off x="7399963" y="2665780"/>
            <a:ext cx="1595120" cy="238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Add</a:t>
            </a:r>
            <a:r>
              <a:rPr dirty="0" sz="1400" spc="-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utility</a:t>
            </a:r>
            <a:r>
              <a:rPr dirty="0" sz="1400" spc="-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 b="1">
                <a:solidFill>
                  <a:srgbClr val="FFFFFF"/>
                </a:solidFill>
                <a:latin typeface="Arial"/>
                <a:cs typeface="Arial"/>
              </a:rPr>
              <a:t>buttons</a:t>
            </a:r>
            <a:endParaRPr sz="1400">
              <a:latin typeface="Arial"/>
              <a:cs typeface="Arial"/>
            </a:endParaRPr>
          </a:p>
        </p:txBody>
      </p:sp>
      <p:sp>
        <p:nvSpPr>
          <p:cNvPr id="31" name="object 31"/>
          <p:cNvSpPr txBox="1"/>
          <p:nvPr/>
        </p:nvSpPr>
        <p:spPr>
          <a:xfrm>
            <a:off x="9181772" y="2634221"/>
            <a:ext cx="254000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 spc="-50" b="1">
                <a:solidFill>
                  <a:srgbClr val="6C4FDF"/>
                </a:solidFill>
                <a:latin typeface="Arial"/>
                <a:cs typeface="Arial"/>
              </a:rPr>
              <a:t>→</a:t>
            </a:r>
            <a:endParaRPr sz="1800">
              <a:latin typeface="Arial"/>
              <a:cs typeface="Arial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9436607" y="2377439"/>
            <a:ext cx="1965960" cy="822960"/>
          </a:xfrm>
          <a:custGeom>
            <a:avLst/>
            <a:gdLst/>
            <a:ahLst/>
            <a:cxnLst/>
            <a:rect l="l" t="t" r="r" b="b"/>
            <a:pathLst>
              <a:path w="1965959" h="822960">
                <a:moveTo>
                  <a:pt x="1911095" y="0"/>
                </a:moveTo>
                <a:lnTo>
                  <a:pt x="54866" y="0"/>
                </a:lnTo>
                <a:lnTo>
                  <a:pt x="33595" y="4339"/>
                </a:lnTo>
                <a:lnTo>
                  <a:pt x="16146" y="16144"/>
                </a:lnTo>
                <a:lnTo>
                  <a:pt x="4340" y="33593"/>
                </a:lnTo>
                <a:lnTo>
                  <a:pt x="0" y="54864"/>
                </a:lnTo>
                <a:lnTo>
                  <a:pt x="0" y="768096"/>
                </a:lnTo>
                <a:lnTo>
                  <a:pt x="4340" y="789366"/>
                </a:lnTo>
                <a:lnTo>
                  <a:pt x="16146" y="806815"/>
                </a:lnTo>
                <a:lnTo>
                  <a:pt x="33595" y="818620"/>
                </a:lnTo>
                <a:lnTo>
                  <a:pt x="54866" y="822960"/>
                </a:lnTo>
                <a:lnTo>
                  <a:pt x="1911095" y="822960"/>
                </a:lnTo>
                <a:lnTo>
                  <a:pt x="1932366" y="818620"/>
                </a:lnTo>
                <a:lnTo>
                  <a:pt x="1949815" y="806815"/>
                </a:lnTo>
                <a:lnTo>
                  <a:pt x="1961620" y="789366"/>
                </a:lnTo>
                <a:lnTo>
                  <a:pt x="1965960" y="768096"/>
                </a:lnTo>
                <a:lnTo>
                  <a:pt x="1965960" y="54864"/>
                </a:lnTo>
                <a:lnTo>
                  <a:pt x="1961620" y="33593"/>
                </a:lnTo>
                <a:lnTo>
                  <a:pt x="1949815" y="16144"/>
                </a:lnTo>
                <a:lnTo>
                  <a:pt x="1932366" y="4339"/>
                </a:lnTo>
                <a:lnTo>
                  <a:pt x="1911095" y="0"/>
                </a:lnTo>
                <a:close/>
              </a:path>
            </a:pathLst>
          </a:custGeom>
          <a:solidFill>
            <a:srgbClr val="6C4FDF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3" name="object 33"/>
          <p:cNvSpPr txBox="1"/>
          <p:nvPr/>
        </p:nvSpPr>
        <p:spPr>
          <a:xfrm>
            <a:off x="9824189" y="2665780"/>
            <a:ext cx="1191260" cy="238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Test</a:t>
            </a:r>
            <a:r>
              <a:rPr dirty="0" sz="1400" spc="-10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b="1">
                <a:solidFill>
                  <a:srgbClr val="FFFFFF"/>
                </a:solidFill>
                <a:latin typeface="Arial"/>
                <a:cs typeface="Arial"/>
              </a:rPr>
              <a:t>&amp;</a:t>
            </a:r>
            <a:r>
              <a:rPr dirty="0" sz="1400" spc="-5" b="1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400" spc="-10" b="1">
                <a:solidFill>
                  <a:srgbClr val="FFFFFF"/>
                </a:solidFill>
                <a:latin typeface="Arial"/>
                <a:cs typeface="Arial"/>
              </a:rPr>
              <a:t>launch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542290" y="3376930"/>
            <a:ext cx="1978660" cy="1384300"/>
            <a:chOff x="542290" y="3376930"/>
            <a:chExt cx="1978660" cy="1384300"/>
          </a:xfrm>
        </p:grpSpPr>
        <p:sp>
          <p:nvSpPr>
            <p:cNvPr id="7" name="object 7"/>
            <p:cNvSpPr/>
            <p:nvPr/>
          </p:nvSpPr>
          <p:spPr>
            <a:xfrm>
              <a:off x="548639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60" h="1371600">
                  <a:moveTo>
                    <a:pt x="1911095" y="0"/>
                  </a:moveTo>
                  <a:lnTo>
                    <a:pt x="54863" y="0"/>
                  </a:lnTo>
                  <a:lnTo>
                    <a:pt x="33593" y="4339"/>
                  </a:lnTo>
                  <a:lnTo>
                    <a:pt x="16145" y="16144"/>
                  </a:lnTo>
                  <a:lnTo>
                    <a:pt x="4339" y="33593"/>
                  </a:lnTo>
                  <a:lnTo>
                    <a:pt x="0" y="54864"/>
                  </a:lnTo>
                  <a:lnTo>
                    <a:pt x="0" y="1316736"/>
                  </a:lnTo>
                  <a:lnTo>
                    <a:pt x="4339" y="1338006"/>
                  </a:lnTo>
                  <a:lnTo>
                    <a:pt x="16145" y="1355455"/>
                  </a:lnTo>
                  <a:lnTo>
                    <a:pt x="33593" y="1367260"/>
                  </a:lnTo>
                  <a:lnTo>
                    <a:pt x="54864" y="1371600"/>
                  </a:lnTo>
                  <a:lnTo>
                    <a:pt x="1911095" y="1371600"/>
                  </a:lnTo>
                  <a:lnTo>
                    <a:pt x="1932366" y="1367260"/>
                  </a:lnTo>
                  <a:lnTo>
                    <a:pt x="1949815" y="1355455"/>
                  </a:lnTo>
                  <a:lnTo>
                    <a:pt x="1961620" y="1338006"/>
                  </a:lnTo>
                  <a:lnTo>
                    <a:pt x="1965960" y="1316736"/>
                  </a:lnTo>
                  <a:lnTo>
                    <a:pt x="1965960" y="54864"/>
                  </a:lnTo>
                  <a:lnTo>
                    <a:pt x="1961620" y="33593"/>
                  </a:lnTo>
                  <a:lnTo>
                    <a:pt x="1949815" y="16144"/>
                  </a:lnTo>
                  <a:lnTo>
                    <a:pt x="1932366" y="4339"/>
                  </a:lnTo>
                  <a:lnTo>
                    <a:pt x="1911095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8" name="object 8"/>
            <p:cNvSpPr/>
            <p:nvPr/>
          </p:nvSpPr>
          <p:spPr>
            <a:xfrm>
              <a:off x="548639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60" h="1371600">
                  <a:moveTo>
                    <a:pt x="0" y="54864"/>
                  </a:moveTo>
                  <a:lnTo>
                    <a:pt x="4339" y="33593"/>
                  </a:lnTo>
                  <a:lnTo>
                    <a:pt x="16145" y="16144"/>
                  </a:lnTo>
                  <a:lnTo>
                    <a:pt x="33593" y="4339"/>
                  </a:lnTo>
                  <a:lnTo>
                    <a:pt x="54863" y="0"/>
                  </a:lnTo>
                  <a:lnTo>
                    <a:pt x="1911095" y="0"/>
                  </a:lnTo>
                  <a:lnTo>
                    <a:pt x="1932366" y="4339"/>
                  </a:lnTo>
                  <a:lnTo>
                    <a:pt x="1949815" y="16144"/>
                  </a:lnTo>
                  <a:lnTo>
                    <a:pt x="1961620" y="33593"/>
                  </a:lnTo>
                  <a:lnTo>
                    <a:pt x="1965960" y="54864"/>
                  </a:lnTo>
                  <a:lnTo>
                    <a:pt x="1965960" y="1316736"/>
                  </a:lnTo>
                  <a:lnTo>
                    <a:pt x="1961620" y="1338006"/>
                  </a:lnTo>
                  <a:lnTo>
                    <a:pt x="1949815" y="1355455"/>
                  </a:lnTo>
                  <a:lnTo>
                    <a:pt x="1932366" y="1367260"/>
                  </a:lnTo>
                  <a:lnTo>
                    <a:pt x="1911095" y="1371600"/>
                  </a:lnTo>
                  <a:lnTo>
                    <a:pt x="54864" y="1371600"/>
                  </a:lnTo>
                  <a:lnTo>
                    <a:pt x="33593" y="1367260"/>
                  </a:lnTo>
                  <a:lnTo>
                    <a:pt x="16145" y="1355455"/>
                  </a:lnTo>
                  <a:lnTo>
                    <a:pt x="4339" y="1338006"/>
                  </a:lnTo>
                  <a:lnTo>
                    <a:pt x="0" y="131673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9" name="object 9"/>
          <p:cNvSpPr txBox="1"/>
          <p:nvPr/>
        </p:nvSpPr>
        <p:spPr>
          <a:xfrm>
            <a:off x="645668" y="3417151"/>
            <a:ext cx="1748789" cy="65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Coordinates,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photos </a:t>
            </a:r>
            <a:r>
              <a:rPr dirty="0" sz="1100" spc="-50">
                <a:solidFill>
                  <a:srgbClr val="C8C8CE"/>
                </a:solidFill>
                <a:latin typeface="Arial"/>
                <a:cs typeface="Arial"/>
              </a:rPr>
              <a:t>&amp;</a:t>
            </a:r>
            <a:r>
              <a:rPr dirty="0" sz="1100" spc="50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menu</a:t>
            </a:r>
            <a:r>
              <a:rPr dirty="0" sz="1100" spc="-1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PDFs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for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every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block,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mess,</a:t>
            </a:r>
            <a:r>
              <a:rPr dirty="0" sz="1100" spc="-1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cafe</a:t>
            </a:r>
            <a:r>
              <a:rPr dirty="0" sz="1100" spc="-1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&amp;</a:t>
            </a:r>
            <a:r>
              <a:rPr dirty="0" sz="1100" spc="-1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20">
                <a:solidFill>
                  <a:srgbClr val="C8C8CE"/>
                </a:solidFill>
                <a:latin typeface="Arial"/>
                <a:cs typeface="Arial"/>
              </a:rPr>
              <a:t>gate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2764282" y="3376930"/>
            <a:ext cx="1978660" cy="1384300"/>
            <a:chOff x="2764282" y="3376930"/>
            <a:chExt cx="1978660" cy="1384300"/>
          </a:xfrm>
        </p:grpSpPr>
        <p:sp>
          <p:nvSpPr>
            <p:cNvPr id="14" name="object 14"/>
            <p:cNvSpPr/>
            <p:nvPr/>
          </p:nvSpPr>
          <p:spPr>
            <a:xfrm>
              <a:off x="2770631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60" h="1371600">
                  <a:moveTo>
                    <a:pt x="1911095" y="0"/>
                  </a:moveTo>
                  <a:lnTo>
                    <a:pt x="54863" y="0"/>
                  </a:lnTo>
                  <a:lnTo>
                    <a:pt x="33593" y="4339"/>
                  </a:lnTo>
                  <a:lnTo>
                    <a:pt x="16145" y="16144"/>
                  </a:lnTo>
                  <a:lnTo>
                    <a:pt x="4339" y="33593"/>
                  </a:lnTo>
                  <a:lnTo>
                    <a:pt x="0" y="54864"/>
                  </a:lnTo>
                  <a:lnTo>
                    <a:pt x="0" y="1316736"/>
                  </a:lnTo>
                  <a:lnTo>
                    <a:pt x="4339" y="1338006"/>
                  </a:lnTo>
                  <a:lnTo>
                    <a:pt x="16145" y="1355455"/>
                  </a:lnTo>
                  <a:lnTo>
                    <a:pt x="33593" y="1367260"/>
                  </a:lnTo>
                  <a:lnTo>
                    <a:pt x="54864" y="1371600"/>
                  </a:lnTo>
                  <a:lnTo>
                    <a:pt x="1911095" y="1371600"/>
                  </a:lnTo>
                  <a:lnTo>
                    <a:pt x="1932366" y="1367260"/>
                  </a:lnTo>
                  <a:lnTo>
                    <a:pt x="1949815" y="1355455"/>
                  </a:lnTo>
                  <a:lnTo>
                    <a:pt x="1961620" y="1338006"/>
                  </a:lnTo>
                  <a:lnTo>
                    <a:pt x="1965960" y="1316736"/>
                  </a:lnTo>
                  <a:lnTo>
                    <a:pt x="1965960" y="54864"/>
                  </a:lnTo>
                  <a:lnTo>
                    <a:pt x="1961620" y="33593"/>
                  </a:lnTo>
                  <a:lnTo>
                    <a:pt x="1949815" y="16144"/>
                  </a:lnTo>
                  <a:lnTo>
                    <a:pt x="1932366" y="4339"/>
                  </a:lnTo>
                  <a:lnTo>
                    <a:pt x="1911095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15" name="object 15"/>
            <p:cNvSpPr/>
            <p:nvPr/>
          </p:nvSpPr>
          <p:spPr>
            <a:xfrm>
              <a:off x="2770631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60" h="1371600">
                  <a:moveTo>
                    <a:pt x="0" y="54864"/>
                  </a:moveTo>
                  <a:lnTo>
                    <a:pt x="4339" y="33593"/>
                  </a:lnTo>
                  <a:lnTo>
                    <a:pt x="16145" y="16144"/>
                  </a:lnTo>
                  <a:lnTo>
                    <a:pt x="33593" y="4339"/>
                  </a:lnTo>
                  <a:lnTo>
                    <a:pt x="54863" y="0"/>
                  </a:lnTo>
                  <a:lnTo>
                    <a:pt x="1911095" y="0"/>
                  </a:lnTo>
                  <a:lnTo>
                    <a:pt x="1932366" y="4339"/>
                  </a:lnTo>
                  <a:lnTo>
                    <a:pt x="1949815" y="16144"/>
                  </a:lnTo>
                  <a:lnTo>
                    <a:pt x="1961620" y="33593"/>
                  </a:lnTo>
                  <a:lnTo>
                    <a:pt x="1965960" y="54864"/>
                  </a:lnTo>
                  <a:lnTo>
                    <a:pt x="1965960" y="1316736"/>
                  </a:lnTo>
                  <a:lnTo>
                    <a:pt x="1961620" y="1338006"/>
                  </a:lnTo>
                  <a:lnTo>
                    <a:pt x="1949815" y="1355455"/>
                  </a:lnTo>
                  <a:lnTo>
                    <a:pt x="1932366" y="1367260"/>
                  </a:lnTo>
                  <a:lnTo>
                    <a:pt x="1911095" y="1371600"/>
                  </a:lnTo>
                  <a:lnTo>
                    <a:pt x="54864" y="1371600"/>
                  </a:lnTo>
                  <a:lnTo>
                    <a:pt x="33593" y="1367260"/>
                  </a:lnTo>
                  <a:lnTo>
                    <a:pt x="16145" y="1355455"/>
                  </a:lnTo>
                  <a:lnTo>
                    <a:pt x="4339" y="1338006"/>
                  </a:lnTo>
                  <a:lnTo>
                    <a:pt x="0" y="131673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16" name="object 16"/>
          <p:cNvSpPr txBox="1"/>
          <p:nvPr/>
        </p:nvSpPr>
        <p:spPr>
          <a:xfrm>
            <a:off x="2867660" y="3417151"/>
            <a:ext cx="1733550" cy="65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Place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pins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on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an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interactive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map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with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tap-to-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view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20">
                <a:solidFill>
                  <a:srgbClr val="C8C8CE"/>
                </a:solidFill>
                <a:latin typeface="Arial"/>
                <a:cs typeface="Arial"/>
              </a:rPr>
              <a:t>info 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cards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986273" y="3376930"/>
            <a:ext cx="1978660" cy="1384300"/>
            <a:chOff x="4986273" y="3376930"/>
            <a:chExt cx="1978660" cy="1384300"/>
          </a:xfrm>
        </p:grpSpPr>
        <p:sp>
          <p:nvSpPr>
            <p:cNvPr id="21" name="object 21"/>
            <p:cNvSpPr/>
            <p:nvPr/>
          </p:nvSpPr>
          <p:spPr>
            <a:xfrm>
              <a:off x="4992623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59" h="1371600">
                  <a:moveTo>
                    <a:pt x="1911095" y="0"/>
                  </a:moveTo>
                  <a:lnTo>
                    <a:pt x="54863" y="0"/>
                  </a:lnTo>
                  <a:lnTo>
                    <a:pt x="33593" y="4339"/>
                  </a:lnTo>
                  <a:lnTo>
                    <a:pt x="16145" y="16144"/>
                  </a:lnTo>
                  <a:lnTo>
                    <a:pt x="4339" y="33593"/>
                  </a:lnTo>
                  <a:lnTo>
                    <a:pt x="0" y="54864"/>
                  </a:lnTo>
                  <a:lnTo>
                    <a:pt x="0" y="1316736"/>
                  </a:lnTo>
                  <a:lnTo>
                    <a:pt x="4339" y="1338006"/>
                  </a:lnTo>
                  <a:lnTo>
                    <a:pt x="16145" y="1355455"/>
                  </a:lnTo>
                  <a:lnTo>
                    <a:pt x="33593" y="1367260"/>
                  </a:lnTo>
                  <a:lnTo>
                    <a:pt x="54864" y="1371600"/>
                  </a:lnTo>
                  <a:lnTo>
                    <a:pt x="1911095" y="1371600"/>
                  </a:lnTo>
                  <a:lnTo>
                    <a:pt x="1932366" y="1367260"/>
                  </a:lnTo>
                  <a:lnTo>
                    <a:pt x="1949815" y="1355455"/>
                  </a:lnTo>
                  <a:lnTo>
                    <a:pt x="1961620" y="1338006"/>
                  </a:lnTo>
                  <a:lnTo>
                    <a:pt x="1965960" y="1316736"/>
                  </a:lnTo>
                  <a:lnTo>
                    <a:pt x="1965960" y="54864"/>
                  </a:lnTo>
                  <a:lnTo>
                    <a:pt x="1961620" y="33593"/>
                  </a:lnTo>
                  <a:lnTo>
                    <a:pt x="1949815" y="16144"/>
                  </a:lnTo>
                  <a:lnTo>
                    <a:pt x="1932366" y="4339"/>
                  </a:lnTo>
                  <a:lnTo>
                    <a:pt x="1911095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2" name="object 22"/>
            <p:cNvSpPr/>
            <p:nvPr/>
          </p:nvSpPr>
          <p:spPr>
            <a:xfrm>
              <a:off x="4992623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59" h="1371600">
                  <a:moveTo>
                    <a:pt x="0" y="54864"/>
                  </a:moveTo>
                  <a:lnTo>
                    <a:pt x="4339" y="33593"/>
                  </a:lnTo>
                  <a:lnTo>
                    <a:pt x="16145" y="16144"/>
                  </a:lnTo>
                  <a:lnTo>
                    <a:pt x="33593" y="4339"/>
                  </a:lnTo>
                  <a:lnTo>
                    <a:pt x="54863" y="0"/>
                  </a:lnTo>
                  <a:lnTo>
                    <a:pt x="1911095" y="0"/>
                  </a:lnTo>
                  <a:lnTo>
                    <a:pt x="1932366" y="4339"/>
                  </a:lnTo>
                  <a:lnTo>
                    <a:pt x="1949815" y="16144"/>
                  </a:lnTo>
                  <a:lnTo>
                    <a:pt x="1961620" y="33593"/>
                  </a:lnTo>
                  <a:lnTo>
                    <a:pt x="1965960" y="54864"/>
                  </a:lnTo>
                  <a:lnTo>
                    <a:pt x="1965960" y="1316736"/>
                  </a:lnTo>
                  <a:lnTo>
                    <a:pt x="1961620" y="1338006"/>
                  </a:lnTo>
                  <a:lnTo>
                    <a:pt x="1949815" y="1355455"/>
                  </a:lnTo>
                  <a:lnTo>
                    <a:pt x="1932366" y="1367260"/>
                  </a:lnTo>
                  <a:lnTo>
                    <a:pt x="1911095" y="1371600"/>
                  </a:lnTo>
                  <a:lnTo>
                    <a:pt x="54864" y="1371600"/>
                  </a:lnTo>
                  <a:lnTo>
                    <a:pt x="33593" y="1367260"/>
                  </a:lnTo>
                  <a:lnTo>
                    <a:pt x="16145" y="1355455"/>
                  </a:lnTo>
                  <a:lnTo>
                    <a:pt x="4339" y="1338006"/>
                  </a:lnTo>
                  <a:lnTo>
                    <a:pt x="0" y="131673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23" name="object 23"/>
          <p:cNvSpPr txBox="1"/>
          <p:nvPr/>
        </p:nvSpPr>
        <p:spPr>
          <a:xfrm>
            <a:off x="5089652" y="3417151"/>
            <a:ext cx="1748789" cy="65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Connect</a:t>
            </a:r>
            <a:r>
              <a:rPr dirty="0" sz="110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Geolocation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API</a:t>
            </a:r>
            <a:r>
              <a:rPr dirty="0" sz="110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to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a</a:t>
            </a:r>
            <a:r>
              <a:rPr dirty="0" sz="1100" spc="-3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routing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service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for</a:t>
            </a:r>
            <a:r>
              <a:rPr dirty="0" sz="1100" spc="-2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"Find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the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Path"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27" name="object 27"/>
          <p:cNvGrpSpPr/>
          <p:nvPr/>
        </p:nvGrpSpPr>
        <p:grpSpPr>
          <a:xfrm>
            <a:off x="7208266" y="3376930"/>
            <a:ext cx="1978660" cy="1384300"/>
            <a:chOff x="7208266" y="3376930"/>
            <a:chExt cx="1978660" cy="1384300"/>
          </a:xfrm>
        </p:grpSpPr>
        <p:sp>
          <p:nvSpPr>
            <p:cNvPr id="28" name="object 28"/>
            <p:cNvSpPr/>
            <p:nvPr/>
          </p:nvSpPr>
          <p:spPr>
            <a:xfrm>
              <a:off x="7214616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59" h="1371600">
                  <a:moveTo>
                    <a:pt x="1911095" y="0"/>
                  </a:moveTo>
                  <a:lnTo>
                    <a:pt x="54863" y="0"/>
                  </a:lnTo>
                  <a:lnTo>
                    <a:pt x="33593" y="4339"/>
                  </a:lnTo>
                  <a:lnTo>
                    <a:pt x="16145" y="16144"/>
                  </a:lnTo>
                  <a:lnTo>
                    <a:pt x="4339" y="33593"/>
                  </a:lnTo>
                  <a:lnTo>
                    <a:pt x="0" y="54864"/>
                  </a:lnTo>
                  <a:lnTo>
                    <a:pt x="0" y="1316736"/>
                  </a:lnTo>
                  <a:lnTo>
                    <a:pt x="4339" y="1338006"/>
                  </a:lnTo>
                  <a:lnTo>
                    <a:pt x="16145" y="1355455"/>
                  </a:lnTo>
                  <a:lnTo>
                    <a:pt x="33593" y="1367260"/>
                  </a:lnTo>
                  <a:lnTo>
                    <a:pt x="54864" y="1371600"/>
                  </a:lnTo>
                  <a:lnTo>
                    <a:pt x="1911095" y="1371600"/>
                  </a:lnTo>
                  <a:lnTo>
                    <a:pt x="1932366" y="1367260"/>
                  </a:lnTo>
                  <a:lnTo>
                    <a:pt x="1949815" y="1355455"/>
                  </a:lnTo>
                  <a:lnTo>
                    <a:pt x="1961620" y="1338006"/>
                  </a:lnTo>
                  <a:lnTo>
                    <a:pt x="1965960" y="1316736"/>
                  </a:lnTo>
                  <a:lnTo>
                    <a:pt x="1965960" y="54864"/>
                  </a:lnTo>
                  <a:lnTo>
                    <a:pt x="1961620" y="33593"/>
                  </a:lnTo>
                  <a:lnTo>
                    <a:pt x="1949815" y="16144"/>
                  </a:lnTo>
                  <a:lnTo>
                    <a:pt x="1932366" y="4339"/>
                  </a:lnTo>
                  <a:lnTo>
                    <a:pt x="1911095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29" name="object 29"/>
            <p:cNvSpPr/>
            <p:nvPr/>
          </p:nvSpPr>
          <p:spPr>
            <a:xfrm>
              <a:off x="7214616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59" h="1371600">
                  <a:moveTo>
                    <a:pt x="0" y="54864"/>
                  </a:moveTo>
                  <a:lnTo>
                    <a:pt x="4339" y="33593"/>
                  </a:lnTo>
                  <a:lnTo>
                    <a:pt x="16145" y="16144"/>
                  </a:lnTo>
                  <a:lnTo>
                    <a:pt x="33593" y="4339"/>
                  </a:lnTo>
                  <a:lnTo>
                    <a:pt x="54863" y="0"/>
                  </a:lnTo>
                  <a:lnTo>
                    <a:pt x="1911095" y="0"/>
                  </a:lnTo>
                  <a:lnTo>
                    <a:pt x="1932366" y="4339"/>
                  </a:lnTo>
                  <a:lnTo>
                    <a:pt x="1949815" y="16144"/>
                  </a:lnTo>
                  <a:lnTo>
                    <a:pt x="1961620" y="33593"/>
                  </a:lnTo>
                  <a:lnTo>
                    <a:pt x="1965960" y="54864"/>
                  </a:lnTo>
                  <a:lnTo>
                    <a:pt x="1965960" y="1316736"/>
                  </a:lnTo>
                  <a:lnTo>
                    <a:pt x="1961620" y="1338006"/>
                  </a:lnTo>
                  <a:lnTo>
                    <a:pt x="1949815" y="1355455"/>
                  </a:lnTo>
                  <a:lnTo>
                    <a:pt x="1932366" y="1367260"/>
                  </a:lnTo>
                  <a:lnTo>
                    <a:pt x="1911095" y="1371600"/>
                  </a:lnTo>
                  <a:lnTo>
                    <a:pt x="54864" y="1371600"/>
                  </a:lnTo>
                  <a:lnTo>
                    <a:pt x="33593" y="1367260"/>
                  </a:lnTo>
                  <a:lnTo>
                    <a:pt x="16145" y="1355455"/>
                  </a:lnTo>
                  <a:lnTo>
                    <a:pt x="4339" y="1338006"/>
                  </a:lnTo>
                  <a:lnTo>
                    <a:pt x="0" y="131673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0" name="object 30"/>
          <p:cNvSpPr txBox="1"/>
          <p:nvPr/>
        </p:nvSpPr>
        <p:spPr>
          <a:xfrm>
            <a:off x="7311643" y="3417151"/>
            <a:ext cx="1572895" cy="65405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Emergency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contacts, Freshers'</a:t>
            </a:r>
            <a:r>
              <a:rPr dirty="0" sz="1100" spc="-1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Tour,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light/dark toggle</a:t>
            </a:r>
            <a:endParaRPr sz="11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9430258" y="3376930"/>
            <a:ext cx="1978660" cy="1384300"/>
            <a:chOff x="9430258" y="3376930"/>
            <a:chExt cx="1978660" cy="1384300"/>
          </a:xfrm>
        </p:grpSpPr>
        <p:sp>
          <p:nvSpPr>
            <p:cNvPr id="35" name="object 35"/>
            <p:cNvSpPr/>
            <p:nvPr/>
          </p:nvSpPr>
          <p:spPr>
            <a:xfrm>
              <a:off x="9436608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59" h="1371600">
                  <a:moveTo>
                    <a:pt x="1911095" y="0"/>
                  </a:moveTo>
                  <a:lnTo>
                    <a:pt x="54863" y="0"/>
                  </a:lnTo>
                  <a:lnTo>
                    <a:pt x="33593" y="4339"/>
                  </a:lnTo>
                  <a:lnTo>
                    <a:pt x="16145" y="16144"/>
                  </a:lnTo>
                  <a:lnTo>
                    <a:pt x="4339" y="33593"/>
                  </a:lnTo>
                  <a:lnTo>
                    <a:pt x="0" y="54864"/>
                  </a:lnTo>
                  <a:lnTo>
                    <a:pt x="0" y="1316736"/>
                  </a:lnTo>
                  <a:lnTo>
                    <a:pt x="4339" y="1338006"/>
                  </a:lnTo>
                  <a:lnTo>
                    <a:pt x="16145" y="1355455"/>
                  </a:lnTo>
                  <a:lnTo>
                    <a:pt x="33593" y="1367260"/>
                  </a:lnTo>
                  <a:lnTo>
                    <a:pt x="54864" y="1371600"/>
                  </a:lnTo>
                  <a:lnTo>
                    <a:pt x="1911095" y="1371600"/>
                  </a:lnTo>
                  <a:lnTo>
                    <a:pt x="1932366" y="1367260"/>
                  </a:lnTo>
                  <a:lnTo>
                    <a:pt x="1949815" y="1355455"/>
                  </a:lnTo>
                  <a:lnTo>
                    <a:pt x="1961620" y="1338006"/>
                  </a:lnTo>
                  <a:lnTo>
                    <a:pt x="1965960" y="1316736"/>
                  </a:lnTo>
                  <a:lnTo>
                    <a:pt x="1965960" y="54864"/>
                  </a:lnTo>
                  <a:lnTo>
                    <a:pt x="1961620" y="33593"/>
                  </a:lnTo>
                  <a:lnTo>
                    <a:pt x="1949815" y="16144"/>
                  </a:lnTo>
                  <a:lnTo>
                    <a:pt x="1932366" y="4339"/>
                  </a:lnTo>
                  <a:lnTo>
                    <a:pt x="1911095" y="0"/>
                  </a:lnTo>
                  <a:close/>
                </a:path>
              </a:pathLst>
            </a:custGeom>
            <a:solidFill>
              <a:srgbClr val="16161C"/>
            </a:solidFill>
          </p:spPr>
          <p:txBody>
            <a:bodyPr wrap="square" lIns="0" tIns="0" rIns="0" bIns="0" rtlCol="0"/>
            <a:lstStyle/>
            <a:p/>
          </p:txBody>
        </p:sp>
        <p:sp>
          <p:nvSpPr>
            <p:cNvPr id="36" name="object 36"/>
            <p:cNvSpPr/>
            <p:nvPr/>
          </p:nvSpPr>
          <p:spPr>
            <a:xfrm>
              <a:off x="9436608" y="3383280"/>
              <a:ext cx="1965960" cy="1371600"/>
            </a:xfrm>
            <a:custGeom>
              <a:avLst/>
              <a:gdLst/>
              <a:ahLst/>
              <a:cxnLst/>
              <a:rect l="l" t="t" r="r" b="b"/>
              <a:pathLst>
                <a:path w="1965959" h="1371600">
                  <a:moveTo>
                    <a:pt x="0" y="54864"/>
                  </a:moveTo>
                  <a:lnTo>
                    <a:pt x="4339" y="33593"/>
                  </a:lnTo>
                  <a:lnTo>
                    <a:pt x="16145" y="16144"/>
                  </a:lnTo>
                  <a:lnTo>
                    <a:pt x="33593" y="4339"/>
                  </a:lnTo>
                  <a:lnTo>
                    <a:pt x="54863" y="0"/>
                  </a:lnTo>
                  <a:lnTo>
                    <a:pt x="1911095" y="0"/>
                  </a:lnTo>
                  <a:lnTo>
                    <a:pt x="1932366" y="4339"/>
                  </a:lnTo>
                  <a:lnTo>
                    <a:pt x="1949815" y="16144"/>
                  </a:lnTo>
                  <a:lnTo>
                    <a:pt x="1961620" y="33593"/>
                  </a:lnTo>
                  <a:lnTo>
                    <a:pt x="1965960" y="54864"/>
                  </a:lnTo>
                  <a:lnTo>
                    <a:pt x="1965960" y="1316736"/>
                  </a:lnTo>
                  <a:lnTo>
                    <a:pt x="1961620" y="1338006"/>
                  </a:lnTo>
                  <a:lnTo>
                    <a:pt x="1949815" y="1355455"/>
                  </a:lnTo>
                  <a:lnTo>
                    <a:pt x="1932366" y="1367260"/>
                  </a:lnTo>
                  <a:lnTo>
                    <a:pt x="1911095" y="1371600"/>
                  </a:lnTo>
                  <a:lnTo>
                    <a:pt x="54864" y="1371600"/>
                  </a:lnTo>
                  <a:lnTo>
                    <a:pt x="33593" y="1367260"/>
                  </a:lnTo>
                  <a:lnTo>
                    <a:pt x="16145" y="1355455"/>
                  </a:lnTo>
                  <a:lnTo>
                    <a:pt x="4339" y="1338006"/>
                  </a:lnTo>
                  <a:lnTo>
                    <a:pt x="0" y="1316736"/>
                  </a:lnTo>
                  <a:lnTo>
                    <a:pt x="0" y="54864"/>
                  </a:lnTo>
                  <a:close/>
                </a:path>
              </a:pathLst>
            </a:custGeom>
            <a:ln w="12699">
              <a:solidFill>
                <a:srgbClr val="2A2A30"/>
              </a:solidFill>
            </a:ln>
          </p:spPr>
          <p:txBody>
            <a:bodyPr wrap="square" lIns="0" tIns="0" rIns="0" bIns="0" rtlCol="0"/>
            <a:lstStyle/>
            <a:p/>
          </p:txBody>
        </p:sp>
      </p:grpSp>
      <p:sp>
        <p:nvSpPr>
          <p:cNvPr id="37" name="object 37"/>
          <p:cNvSpPr txBox="1"/>
          <p:nvPr/>
        </p:nvSpPr>
        <p:spPr>
          <a:xfrm>
            <a:off x="9533635" y="3417151"/>
            <a:ext cx="1710689" cy="4445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 marR="5080">
              <a:lnSpc>
                <a:spcPct val="125000"/>
              </a:lnSpc>
              <a:spcBef>
                <a:spcPts val="100"/>
              </a:spcBef>
            </a:pP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Test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on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campus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20">
                <a:solidFill>
                  <a:srgbClr val="C8C8CE"/>
                </a:solidFill>
                <a:latin typeface="Arial"/>
                <a:cs typeface="Arial"/>
              </a:rPr>
              <a:t>Wi-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Fi</a:t>
            </a:r>
            <a:r>
              <a:rPr dirty="0" sz="1100" spc="-5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20">
                <a:solidFill>
                  <a:srgbClr val="C8C8CE"/>
                </a:solidFill>
                <a:latin typeface="Arial"/>
                <a:cs typeface="Arial"/>
              </a:rPr>
              <a:t>with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real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students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>
                <a:solidFill>
                  <a:srgbClr val="C8C8CE"/>
                </a:solidFill>
                <a:latin typeface="Arial"/>
                <a:cs typeface="Arial"/>
              </a:rPr>
              <a:t>before</a:t>
            </a:r>
            <a:r>
              <a:rPr dirty="0" sz="1100" spc="-10">
                <a:solidFill>
                  <a:srgbClr val="C8C8CE"/>
                </a:solidFill>
                <a:latin typeface="Arial"/>
                <a:cs typeface="Arial"/>
              </a:rPr>
              <a:t> </a:t>
            </a:r>
            <a:r>
              <a:rPr dirty="0" sz="1100" spc="-20">
                <a:solidFill>
                  <a:srgbClr val="C8C8CE"/>
                </a:solidFill>
                <a:latin typeface="Arial"/>
                <a:cs typeface="Arial"/>
              </a:rPr>
              <a:t>go-live</a:t>
            </a:r>
            <a:endParaRPr sz="1100">
              <a:latin typeface="Arial"/>
              <a:cs typeface="Arial"/>
            </a:endParaRPr>
          </a:p>
        </p:txBody>
      </p:sp>
      <p:sp>
        <p:nvSpPr>
          <p:cNvPr id="38" name="object 38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Feasibility</a:t>
            </a:r>
            <a:r>
              <a:rPr dirty="0" spc="-25"/>
              <a:t> </a:t>
            </a:r>
            <a:r>
              <a:rPr dirty="0"/>
              <a:t>and</a:t>
            </a:r>
            <a:r>
              <a:rPr dirty="0" spc="-10"/>
              <a:t> Viability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32687"/>
            <a:ext cx="174053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Feasibility</a:t>
            </a:r>
            <a:r>
              <a:rPr dirty="0" sz="1600" spc="-40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 spc="-10">
                <a:solidFill>
                  <a:srgbClr val="6C4FDF"/>
                </a:solidFill>
                <a:latin typeface="Arial"/>
                <a:cs typeface="Arial"/>
              </a:rPr>
              <a:t>Analysis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2146807"/>
            <a:ext cx="11024235" cy="3667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5600" marR="200660" indent="-342900">
              <a:lnSpc>
                <a:spcPct val="150000"/>
              </a:lnSpc>
              <a:spcBef>
                <a:spcPts val="1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Yes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core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pieces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(interactive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maps,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geolocation,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simple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database)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are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standard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web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technologies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that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our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team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already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has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working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knowledge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of.</a:t>
            </a:r>
            <a:endParaRPr sz="1700">
              <a:latin typeface="Arial"/>
              <a:cs typeface="Arial"/>
            </a:endParaRPr>
          </a:p>
          <a:p>
            <a:pPr marL="355600" marR="221615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Resources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required: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data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(coordinates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+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photos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menus/notices),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basic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web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hosting,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a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small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amount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cloud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storage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PDFs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all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low-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cost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free</a:t>
            </a:r>
            <a:r>
              <a:rPr dirty="0" sz="1700" spc="-3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tier.</a:t>
            </a:r>
            <a:endParaRPr sz="1700">
              <a:latin typeface="Arial"/>
              <a:cs typeface="Arial"/>
            </a:endParaRPr>
          </a:p>
          <a:p>
            <a:pPr marL="355600" marR="508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Practical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because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it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doesn't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need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infrastructure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it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runs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entirely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website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accessible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from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any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phone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browser.</a:t>
            </a:r>
            <a:endParaRPr sz="1700">
              <a:latin typeface="Arial"/>
              <a:cs typeface="Arial"/>
            </a:endParaRPr>
          </a:p>
          <a:p>
            <a:pPr marL="355600" marR="58419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first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working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version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covering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AB1,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AB2,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Blocks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1–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8,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mess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halls,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Dr.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Morphy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realistically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built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and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tested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within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hackathon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timeframe.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Feasibility</a:t>
            </a:r>
            <a:r>
              <a:rPr dirty="0" spc="-25"/>
              <a:t> </a:t>
            </a:r>
            <a:r>
              <a:rPr dirty="0"/>
              <a:t>and</a:t>
            </a:r>
            <a:r>
              <a:rPr dirty="0" spc="-10"/>
              <a:t> Viability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232687"/>
            <a:ext cx="3232785" cy="26924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Strategies</a:t>
            </a:r>
            <a:r>
              <a:rPr dirty="0" sz="1600" spc="-55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to</a:t>
            </a:r>
            <a:r>
              <a:rPr dirty="0" sz="1600" spc="-50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>
                <a:solidFill>
                  <a:srgbClr val="6C4FDF"/>
                </a:solidFill>
                <a:latin typeface="Arial"/>
                <a:cs typeface="Arial"/>
              </a:rPr>
              <a:t>Overcome</a:t>
            </a:r>
            <a:r>
              <a:rPr dirty="0" sz="1600" spc="-50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600" spc="-10">
                <a:solidFill>
                  <a:srgbClr val="6C4FDF"/>
                </a:solidFill>
                <a:latin typeface="Arial"/>
                <a:cs typeface="Arial"/>
              </a:rPr>
              <a:t>Challenges</a:t>
            </a:r>
            <a:endParaRPr sz="16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35940" y="2146807"/>
            <a:ext cx="11069955" cy="3667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5600" marR="547370" indent="-342900">
              <a:lnSpc>
                <a:spcPct val="150000"/>
              </a:lnSpc>
              <a:spcBef>
                <a:spcPts val="1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Keeping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data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accurate: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assign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one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team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member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verify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update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coordinates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PDFs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after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physically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walking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campus.</a:t>
            </a:r>
            <a:endParaRPr sz="1700">
              <a:latin typeface="Arial"/>
              <a:cs typeface="Arial"/>
            </a:endParaRPr>
          </a:p>
          <a:p>
            <a:pPr marL="355600" marR="735965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GPS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accuracy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indoors/near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buildings: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fall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back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simple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step-by-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step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text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route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live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isn't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precise</a:t>
            </a:r>
            <a:r>
              <a:rPr dirty="0" sz="1700" spc="-8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enough.</a:t>
            </a:r>
            <a:endParaRPr sz="1700">
              <a:latin typeface="Arial"/>
              <a:cs typeface="Arial"/>
            </a:endParaRPr>
          </a:p>
          <a:p>
            <a:pPr marL="355600" marR="508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Menu/photo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files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going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out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date: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store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them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shared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cloud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folder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so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they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swapped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without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touching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website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code.</a:t>
            </a:r>
            <a:endParaRPr sz="1700">
              <a:latin typeface="Arial"/>
              <a:cs typeface="Arial"/>
            </a:endParaRPr>
          </a:p>
          <a:p>
            <a:pPr marL="355600" marR="7874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Low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awareness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among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freshers: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tie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website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link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orientation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day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material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hostel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WhatsApp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groups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for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first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push.</a:t>
            </a:r>
            <a:endParaRPr sz="1700">
              <a:latin typeface="Arial"/>
              <a:cs typeface="Arial"/>
            </a:endParaRPr>
          </a:p>
        </p:txBody>
      </p:sp>
      <p:sp>
        <p:nvSpPr>
          <p:cNvPr id="5" name="object 5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Impact</a:t>
            </a:r>
            <a:r>
              <a:rPr dirty="0" spc="-25"/>
              <a:t> </a:t>
            </a:r>
            <a:r>
              <a:rPr dirty="0"/>
              <a:t>and</a:t>
            </a:r>
            <a:r>
              <a:rPr dirty="0" spc="-10"/>
              <a:t> </a:t>
            </a:r>
            <a:r>
              <a:rPr dirty="0"/>
              <a:t>Benefits</a:t>
            </a:r>
            <a:r>
              <a:rPr dirty="0" spc="-10"/>
              <a:t> Envisaged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2269997"/>
            <a:ext cx="10743565" cy="327660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Freshers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settle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faster,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spending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less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their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first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week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lost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asking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around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directions.</a:t>
            </a:r>
            <a:endParaRPr sz="1700">
              <a:latin typeface="Arial"/>
              <a:cs typeface="Arial"/>
            </a:endParaRPr>
          </a:p>
          <a:p>
            <a:pPr marL="355600" marR="88265" indent="-342900">
              <a:lnSpc>
                <a:spcPct val="150000"/>
              </a:lnSpc>
              <a:spcBef>
                <a:spcPts val="13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Reduces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load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hostel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wardens,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seniors,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helpdesks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who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currently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answer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location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questions repeatedly.</a:t>
            </a:r>
            <a:endParaRPr sz="17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65"/>
              </a:spcBef>
              <a:buClr>
                <a:srgbClr val="FFFFFF"/>
              </a:buClr>
              <a:buFont typeface="Arial"/>
              <a:buChar char="•"/>
            </a:pPr>
            <a:endParaRPr sz="17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Faster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access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Dr.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Morphy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emergency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contacts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during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genuine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emergencies,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when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time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matters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most.</a:t>
            </a:r>
            <a:endParaRPr sz="17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65"/>
              </a:spcBef>
              <a:buClr>
                <a:srgbClr val="FFFFFF"/>
              </a:buClr>
              <a:buFont typeface="Arial"/>
              <a:buChar char="•"/>
            </a:pPr>
            <a:endParaRPr sz="1700">
              <a:latin typeface="Arial"/>
              <a:cs typeface="Arial"/>
            </a:endParaR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Improves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accessibility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for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guests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parents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visiting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during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events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without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needing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student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escort.</a:t>
            </a:r>
            <a:endParaRPr sz="1700">
              <a:latin typeface="Arial"/>
              <a:cs typeface="Arial"/>
            </a:endParaRPr>
          </a:p>
          <a:p>
            <a:pPr marL="355600" marR="197485" indent="-342900">
              <a:lnSpc>
                <a:spcPct val="150000"/>
              </a:lnSpc>
              <a:spcBef>
                <a:spcPts val="1300"/>
              </a:spcBef>
              <a:buChar char="•"/>
              <a:tabLst>
                <a:tab pos="355600" algn="l"/>
              </a:tabLst>
            </a:pP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Long-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term,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same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map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extended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blocks,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food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outlets,</a:t>
            </a:r>
            <a:r>
              <a:rPr dirty="0" sz="1700" spc="-3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event-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specific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pins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the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campus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grows.</a:t>
            </a:r>
            <a:endParaRPr sz="17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dirty="0" spc="-15"/>
              <a:t> </a:t>
            </a:r>
            <a:r>
              <a:rPr dirty="0"/>
              <a:t>This</a:t>
            </a:r>
            <a:r>
              <a:rPr dirty="0" spc="-10"/>
              <a:t> </a:t>
            </a:r>
            <a:r>
              <a:rPr dirty="0"/>
              <a:t>Idea</a:t>
            </a:r>
            <a:r>
              <a:rPr dirty="0" spc="-10"/>
              <a:t> </a:t>
            </a:r>
            <a:r>
              <a:rPr dirty="0"/>
              <a:t>May</a:t>
            </a:r>
            <a:r>
              <a:rPr dirty="0" spc="-15"/>
              <a:t> </a:t>
            </a:r>
            <a:r>
              <a:rPr dirty="0" spc="-10"/>
              <a:t>Fail?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5940" y="1918207"/>
            <a:ext cx="10718800" cy="36677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355600" marR="86360" indent="-342900">
              <a:lnSpc>
                <a:spcPct val="150000"/>
              </a:lnSpc>
              <a:spcBef>
                <a:spcPts val="1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Assumes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students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actually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open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and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use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new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website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instead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of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asking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friends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seniors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—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adoption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depends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how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well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it's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promoted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during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orientation.</a:t>
            </a:r>
            <a:endParaRPr sz="1700">
              <a:latin typeface="Arial"/>
              <a:cs typeface="Arial"/>
            </a:endParaRPr>
          </a:p>
          <a:p>
            <a:pPr marL="355600" marR="23241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Relies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someone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keeping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data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(menus,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contacts,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timings)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updated;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if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it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goes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stale,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students</a:t>
            </a:r>
            <a:r>
              <a:rPr dirty="0" sz="1700" spc="-5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will</a:t>
            </a:r>
            <a:r>
              <a:rPr dirty="0" sz="1700" spc="-5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stop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trusting</a:t>
            </a:r>
            <a:r>
              <a:rPr dirty="0" sz="1700" spc="-8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it.</a:t>
            </a:r>
            <a:endParaRPr sz="1700">
              <a:latin typeface="Arial"/>
              <a:cs typeface="Arial"/>
            </a:endParaRPr>
          </a:p>
          <a:p>
            <a:pPr marL="355600" marR="508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Geolocation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accuracy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can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poor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inside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buildings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areas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with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weak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GPS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signal,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making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"Find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Path"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less</a:t>
            </a:r>
            <a:r>
              <a:rPr dirty="0" sz="1700" spc="-6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reliable</a:t>
            </a:r>
            <a:r>
              <a:rPr dirty="0" sz="1700" spc="-6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there.</a:t>
            </a:r>
            <a:endParaRPr sz="1700">
              <a:latin typeface="Arial"/>
              <a:cs typeface="Arial"/>
            </a:endParaRPr>
          </a:p>
          <a:p>
            <a:pPr marL="355600" marR="328930" indent="-342900">
              <a:lnSpc>
                <a:spcPct val="150000"/>
              </a:lnSpc>
              <a:spcBef>
                <a:spcPts val="1400"/>
              </a:spcBef>
              <a:buChar char="•"/>
              <a:tabLst>
                <a:tab pos="355600" algn="l"/>
              </a:tabLst>
            </a:pP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Needs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working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internet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connection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load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the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map,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which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may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be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an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issue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in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0">
                <a:solidFill>
                  <a:srgbClr val="FFFFFF"/>
                </a:solidFill>
                <a:latin typeface="Arial"/>
                <a:cs typeface="Arial"/>
              </a:rPr>
              <a:t>low-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connectivity</a:t>
            </a:r>
            <a:r>
              <a:rPr dirty="0" sz="1700" spc="-45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>
                <a:solidFill>
                  <a:srgbClr val="FFFFFF"/>
                </a:solidFill>
                <a:latin typeface="Arial"/>
                <a:cs typeface="Arial"/>
              </a:rPr>
              <a:t>spots</a:t>
            </a:r>
            <a:r>
              <a:rPr dirty="0" sz="1700" spc="-4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dirty="0" sz="1700" spc="-25">
                <a:solidFill>
                  <a:srgbClr val="FFFFFF"/>
                </a:solidFill>
                <a:latin typeface="Arial"/>
                <a:cs typeface="Arial"/>
              </a:rPr>
              <a:t>on </a:t>
            </a:r>
            <a:r>
              <a:rPr dirty="0" sz="1700" spc="-10">
                <a:solidFill>
                  <a:srgbClr val="FFFFFF"/>
                </a:solidFill>
                <a:latin typeface="Arial"/>
                <a:cs typeface="Arial"/>
              </a:rPr>
              <a:t>campus.</a:t>
            </a:r>
            <a:endParaRPr sz="170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sldNum" idx="7" sz="quarter"/>
          </p:nvPr>
        </p:nvSpPr>
        <p:spPr>
          <a:prstGeom prst="rect"/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fld id="{81D60167-4931-47E6-BA6A-407CBD079E47}" type="slidenum">
              <a:rPr dirty="0" spc="-25"/>
              <a:t>10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pc="-10"/>
              <a:t>References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354965" indent="-342265">
              <a:lnSpc>
                <a:spcPct val="100000"/>
              </a:lnSpc>
              <a:spcBef>
                <a:spcPts val="100"/>
              </a:spcBef>
              <a:buChar char="•"/>
              <a:tabLst>
                <a:tab pos="354965" algn="l"/>
              </a:tabLst>
            </a:pPr>
            <a:r>
              <a:rPr dirty="0"/>
              <a:t>Leaflet.js</a:t>
            </a:r>
            <a:r>
              <a:rPr dirty="0" spc="-40"/>
              <a:t> </a:t>
            </a:r>
            <a:r>
              <a:rPr dirty="0"/>
              <a:t>official</a:t>
            </a:r>
            <a:r>
              <a:rPr dirty="0" spc="-40"/>
              <a:t> </a:t>
            </a:r>
            <a:r>
              <a:rPr dirty="0" spc="-10"/>
              <a:t>documentation</a:t>
            </a:r>
            <a:r>
              <a:rPr dirty="0" spc="-40"/>
              <a:t> </a:t>
            </a:r>
            <a:r>
              <a:rPr dirty="0"/>
              <a:t>—</a:t>
            </a:r>
            <a:r>
              <a:rPr dirty="0" spc="-40"/>
              <a:t> </a:t>
            </a:r>
            <a:r>
              <a:rPr dirty="0" spc="-10"/>
              <a:t>leafletjs.com</a:t>
            </a: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FFFFFF"/>
              </a:buClr>
              <a:buFont typeface="Arial"/>
              <a:buChar char="•"/>
            </a:p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/>
              <a:t>MDN</a:t>
            </a:r>
            <a:r>
              <a:rPr dirty="0" spc="-20"/>
              <a:t> </a:t>
            </a:r>
            <a:r>
              <a:rPr dirty="0"/>
              <a:t>Web</a:t>
            </a:r>
            <a:r>
              <a:rPr dirty="0" spc="-20"/>
              <a:t> </a:t>
            </a:r>
            <a:r>
              <a:rPr dirty="0"/>
              <a:t>Docs</a:t>
            </a:r>
            <a:r>
              <a:rPr dirty="0" spc="-20"/>
              <a:t> </a:t>
            </a:r>
            <a:r>
              <a:rPr dirty="0"/>
              <a:t>—</a:t>
            </a:r>
            <a:r>
              <a:rPr dirty="0" spc="-15"/>
              <a:t> </a:t>
            </a:r>
            <a:r>
              <a:rPr dirty="0" spc="-10"/>
              <a:t>Geolocation</a:t>
            </a:r>
            <a:r>
              <a:rPr dirty="0" spc="-20"/>
              <a:t> </a:t>
            </a:r>
            <a:r>
              <a:rPr dirty="0" spc="-25"/>
              <a:t>API</a:t>
            </a: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FFFFFF"/>
              </a:buClr>
              <a:buFont typeface="Arial"/>
              <a:buChar char="•"/>
            </a:p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/>
              <a:t>Firebase</a:t>
            </a:r>
            <a:r>
              <a:rPr dirty="0" spc="-40"/>
              <a:t> </a:t>
            </a:r>
            <a:r>
              <a:rPr dirty="0" spc="-10"/>
              <a:t>documentation</a:t>
            </a:r>
            <a:r>
              <a:rPr dirty="0" spc="-40"/>
              <a:t> </a:t>
            </a:r>
            <a:r>
              <a:rPr dirty="0"/>
              <a:t>—</a:t>
            </a:r>
            <a:r>
              <a:rPr dirty="0" spc="-40"/>
              <a:t> </a:t>
            </a:r>
            <a:r>
              <a:rPr dirty="0" spc="-10"/>
              <a:t>firebase.google.com/docs</a:t>
            </a:r>
          </a:p>
          <a:p>
            <a:pPr>
              <a:lnSpc>
                <a:spcPct val="100000"/>
              </a:lnSpc>
              <a:spcBef>
                <a:spcPts val="465"/>
              </a:spcBef>
              <a:buClr>
                <a:srgbClr val="FFFFFF"/>
              </a:buClr>
              <a:buFont typeface="Arial"/>
              <a:buChar char="•"/>
            </a:pPr>
          </a:p>
          <a:p>
            <a:pPr marL="354965" indent="-342265">
              <a:lnSpc>
                <a:spcPct val="100000"/>
              </a:lnSpc>
              <a:buChar char="•"/>
              <a:tabLst>
                <a:tab pos="354965" algn="l"/>
              </a:tabLst>
            </a:pPr>
            <a:r>
              <a:rPr dirty="0"/>
              <a:t>Campus</a:t>
            </a:r>
            <a:r>
              <a:rPr dirty="0" spc="-65"/>
              <a:t> </a:t>
            </a:r>
            <a:r>
              <a:rPr dirty="0"/>
              <a:t>location</a:t>
            </a:r>
            <a:r>
              <a:rPr dirty="0" spc="-60"/>
              <a:t> </a:t>
            </a:r>
            <a:r>
              <a:rPr dirty="0"/>
              <a:t>photographs</a:t>
            </a:r>
            <a:r>
              <a:rPr dirty="0" spc="-60"/>
              <a:t> </a:t>
            </a:r>
            <a:r>
              <a:rPr dirty="0"/>
              <a:t>and</a:t>
            </a:r>
            <a:r>
              <a:rPr dirty="0" spc="-65"/>
              <a:t> </a:t>
            </a:r>
            <a:r>
              <a:rPr dirty="0"/>
              <a:t>menu</a:t>
            </a:r>
            <a:r>
              <a:rPr dirty="0" spc="-60"/>
              <a:t> </a:t>
            </a:r>
            <a:r>
              <a:rPr dirty="0"/>
              <a:t>references</a:t>
            </a:r>
            <a:r>
              <a:rPr dirty="0" spc="-60"/>
              <a:t> </a:t>
            </a:r>
            <a:r>
              <a:rPr dirty="0"/>
              <a:t>collected</a:t>
            </a:r>
            <a:r>
              <a:rPr dirty="0" spc="-65"/>
              <a:t> </a:t>
            </a:r>
            <a:r>
              <a:rPr dirty="0"/>
              <a:t>by</a:t>
            </a:r>
            <a:r>
              <a:rPr dirty="0" spc="-60"/>
              <a:t> </a:t>
            </a:r>
            <a:r>
              <a:rPr dirty="0"/>
              <a:t>the</a:t>
            </a:r>
            <a:r>
              <a:rPr dirty="0" spc="-60"/>
              <a:t> </a:t>
            </a:r>
            <a:r>
              <a:rPr dirty="0"/>
              <a:t>team</a:t>
            </a:r>
            <a:r>
              <a:rPr dirty="0" spc="-65"/>
              <a:t> </a:t>
            </a:r>
            <a:r>
              <a:rPr dirty="0" spc="-20"/>
              <a:t>on-site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11825037" y="6504117"/>
            <a:ext cx="167005" cy="167640"/>
          </a:xfrm>
          <a:prstGeom prst="rect">
            <a:avLst/>
          </a:prstGeom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1000" spc="-25">
                <a:solidFill>
                  <a:srgbClr val="5A5A61"/>
                </a:solidFill>
                <a:latin typeface="Arial"/>
                <a:cs typeface="Arial"/>
              </a:rPr>
              <a:t>12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A0A0E"/>
          </a:solidFill>
        </p:spPr>
        <p:txBody>
          <a:bodyPr wrap="square" lIns="0" tIns="0" rIns="0" bIns="0" rtlCol="0"/>
          <a:lstStyle/>
          <a:p/>
        </p:txBody>
      </p:sp>
      <p:sp>
        <p:nvSpPr>
          <p:cNvPr id="3" name="object 3"/>
          <p:cNvSpPr txBox="1"/>
          <p:nvPr/>
        </p:nvSpPr>
        <p:spPr>
          <a:xfrm>
            <a:off x="535940" y="1391792"/>
            <a:ext cx="10923905" cy="343916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3200" b="1">
                <a:solidFill>
                  <a:srgbClr val="FFD966"/>
                </a:solidFill>
                <a:latin typeface="Arial"/>
                <a:cs typeface="Arial"/>
              </a:rPr>
              <a:t>GITHUB</a:t>
            </a:r>
            <a:r>
              <a:rPr dirty="0" sz="3200" spc="-80" b="1">
                <a:solidFill>
                  <a:srgbClr val="FFD966"/>
                </a:solidFill>
                <a:latin typeface="Arial"/>
                <a:cs typeface="Arial"/>
              </a:rPr>
              <a:t> </a:t>
            </a:r>
            <a:r>
              <a:rPr dirty="0" sz="3200" spc="-10" b="1">
                <a:solidFill>
                  <a:srgbClr val="FFD966"/>
                </a:solidFill>
                <a:latin typeface="Arial"/>
                <a:cs typeface="Arial"/>
              </a:rPr>
              <a:t>LINK:-</a:t>
            </a:r>
            <a:endParaRPr sz="3200">
              <a:latin typeface="Arial"/>
              <a:cs typeface="Arial"/>
            </a:endParaRPr>
          </a:p>
          <a:p>
            <a:pPr marL="12700" marR="523240">
              <a:lnSpc>
                <a:spcPct val="100000"/>
              </a:lnSpc>
            </a:pPr>
            <a:r>
              <a:rPr dirty="0" sz="3200" spc="-10" b="1">
                <a:solidFill>
                  <a:srgbClr val="FFFFFF"/>
                </a:solidFill>
                <a:latin typeface="Arial"/>
                <a:cs typeface="Arial"/>
                <a:hlinkClick r:id="rId2"/>
              </a:rPr>
              <a:t>https://github.com/divyanshmehta-</a:t>
            </a:r>
            <a:r>
              <a:rPr dirty="0" sz="3200" b="1">
                <a:solidFill>
                  <a:srgbClr val="FFFFFF"/>
                </a:solidFill>
                <a:latin typeface="Arial"/>
                <a:cs typeface="Arial"/>
                <a:hlinkClick r:id="rId2"/>
              </a:rPr>
              <a:t>dev/NullSyndicate-</a:t>
            </a:r>
            <a:r>
              <a:rPr dirty="0" sz="3200" spc="-10" b="1">
                <a:solidFill>
                  <a:srgbClr val="FFFFFF"/>
                </a:solidFill>
                <a:latin typeface="Arial"/>
                <a:cs typeface="Arial"/>
              </a:rPr>
              <a:t>DivyanshMehta</a:t>
            </a:r>
            <a:endParaRPr sz="3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60"/>
              </a:spcBef>
            </a:pPr>
            <a:endParaRPr sz="3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</a:pPr>
            <a:r>
              <a:rPr dirty="0" sz="3200" b="1">
                <a:solidFill>
                  <a:srgbClr val="FFD966"/>
                </a:solidFill>
                <a:latin typeface="Arial"/>
                <a:cs typeface="Arial"/>
              </a:rPr>
              <a:t>VIDEO</a:t>
            </a:r>
            <a:r>
              <a:rPr dirty="0" sz="3200" spc="-75" b="1">
                <a:solidFill>
                  <a:srgbClr val="FFD966"/>
                </a:solidFill>
                <a:latin typeface="Arial"/>
                <a:cs typeface="Arial"/>
              </a:rPr>
              <a:t> </a:t>
            </a:r>
            <a:r>
              <a:rPr dirty="0" sz="3200" spc="-10" b="1">
                <a:solidFill>
                  <a:srgbClr val="FFD966"/>
                </a:solidFill>
                <a:latin typeface="Arial"/>
                <a:cs typeface="Arial"/>
              </a:rPr>
              <a:t>LINK:-</a:t>
            </a:r>
            <a:endParaRPr sz="3200">
              <a:latin typeface="Arial"/>
              <a:cs typeface="Arial"/>
            </a:endParaRPr>
          </a:p>
          <a:p>
            <a:pPr marL="12700" marR="5080">
              <a:lnSpc>
                <a:spcPct val="100000"/>
              </a:lnSpc>
            </a:pPr>
            <a:r>
              <a:rPr dirty="0" sz="3200" spc="-10" b="1">
                <a:solidFill>
                  <a:srgbClr val="FFFFFF"/>
                </a:solidFill>
                <a:latin typeface="Arial"/>
                <a:cs typeface="Arial"/>
                <a:hlinkClick r:id="rId3"/>
              </a:rPr>
              <a:t>https://drive.google.com/file/d/1t79SKB1LbL42Jz_b803I8 1QnUcTowG1j/view?usp=drivesdk</a:t>
            </a:r>
            <a:endParaRPr sz="32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825037" y="6504117"/>
            <a:ext cx="167005" cy="167640"/>
          </a:xfrm>
          <a:prstGeom prst="rect">
            <a:avLst/>
          </a:prstGeom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1000" spc="-25">
                <a:solidFill>
                  <a:srgbClr val="5A5A61"/>
                </a:solidFill>
                <a:latin typeface="Arial"/>
                <a:cs typeface="Arial"/>
              </a:rPr>
              <a:t>12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ctrTitle"/>
          </p:nvPr>
        </p:nvSpPr>
        <p:spPr>
          <a:prstGeom prst="rect"/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4800"/>
              <a:t>Thank</a:t>
            </a:r>
            <a:r>
              <a:rPr dirty="0" sz="4800" spc="-150"/>
              <a:t> </a:t>
            </a:r>
            <a:r>
              <a:rPr dirty="0" sz="4800" spc="-25"/>
              <a:t>You</a:t>
            </a:r>
            <a:endParaRPr sz="4800"/>
          </a:p>
        </p:txBody>
      </p:sp>
      <p:sp>
        <p:nvSpPr>
          <p:cNvPr id="3" name="object 3"/>
          <p:cNvSpPr txBox="1"/>
          <p:nvPr/>
        </p:nvSpPr>
        <p:spPr>
          <a:xfrm>
            <a:off x="4873904" y="3594341"/>
            <a:ext cx="2413635" cy="299720"/>
          </a:xfrm>
          <a:prstGeom prst="rect">
            <a:avLst/>
          </a:prstGeom>
        </p:spPr>
        <p:txBody>
          <a:bodyPr wrap="square" lIns="0" tIns="12700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 sz="1800">
                <a:solidFill>
                  <a:srgbClr val="6C4FDF"/>
                </a:solidFill>
                <a:latin typeface="Arial"/>
                <a:cs typeface="Arial"/>
              </a:rPr>
              <a:t>Questions</a:t>
            </a:r>
            <a:r>
              <a:rPr dirty="0" sz="1800" spc="-25">
                <a:solidFill>
                  <a:srgbClr val="6C4FDF"/>
                </a:solidFill>
                <a:latin typeface="Arial"/>
                <a:cs typeface="Arial"/>
              </a:rPr>
              <a:t> </a:t>
            </a:r>
            <a:r>
              <a:rPr dirty="0" sz="1800">
                <a:solidFill>
                  <a:srgbClr val="6C4FDF"/>
                </a:solidFill>
                <a:latin typeface="Arial"/>
                <a:cs typeface="Arial"/>
              </a:rPr>
              <a:t>are</a:t>
            </a:r>
            <a:r>
              <a:rPr dirty="0" sz="1800" spc="-10">
                <a:solidFill>
                  <a:srgbClr val="6C4FDF"/>
                </a:solidFill>
                <a:latin typeface="Arial"/>
                <a:cs typeface="Arial"/>
              </a:rPr>
              <a:t> welcome</a:t>
            </a:r>
            <a:endParaRPr sz="18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1825037" y="6504117"/>
            <a:ext cx="167005" cy="167640"/>
          </a:xfrm>
          <a:prstGeom prst="rect">
            <a:avLst/>
          </a:prstGeom>
        </p:spPr>
        <p:txBody>
          <a:bodyPr wrap="square" lIns="0" tIns="635" rIns="0" bIns="0" rtlCol="0" vert="horz">
            <a:spAutoFit/>
          </a:bodyPr>
          <a:lstStyle/>
          <a:p>
            <a:pPr marL="12700">
              <a:lnSpc>
                <a:spcPct val="100000"/>
              </a:lnSpc>
              <a:spcBef>
                <a:spcPts val="5"/>
              </a:spcBef>
            </a:pPr>
            <a:r>
              <a:rPr dirty="0" sz="1000" spc="-25">
                <a:solidFill>
                  <a:srgbClr val="5A5A61"/>
                </a:solidFill>
                <a:latin typeface="Arial"/>
                <a:cs typeface="Arial"/>
              </a:rPr>
              <a:t>13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FF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Microsoft Office PowerPoint</Application>
  <PresentationFormat>On-screen Show (4:3)</PresentationFormat>
  <ScaleCrop>false</ScaleCrop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2026-07-30T23:41:50Z</dcterms:created>
  <dcterms:modified xsi:type="dcterms:W3CDTF">2026-07-30T23:41:50Z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StructuredOutput v10.0.20070.1</vt:lpwstr>
  </property>
  <property fmtid="{D5CDD505-2E9C-101B-9397-08002B2CF9AE}" pid="3" name="Created">
    <vt:filetime>2026-07-30T00:00:00Z</vt:filetime>
  </property>
  <property fmtid="{D5CDD505-2E9C-101B-9397-08002B2CF9AE}" pid="4" name="LastSaved">
    <vt:filetime>2026-07-30T00:00:00Z</vt:filetime>
  </property>
  <property fmtid="{D5CDD505-2E9C-101B-9397-08002B2CF9AE}" pid="5" name="Producer">
    <vt:lpwstr>3-Heights(TM) PDF Security Shell 4.8.25.2 (http://www.pdf-tools.com)</vt:lpwstr>
  </property>
</Properties>
</file>